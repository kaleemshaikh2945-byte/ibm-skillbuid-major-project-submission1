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2B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22B3A"/>
          </a:solidFill>
          <a:ln/>
        </p:spPr>
      </p:sp>
      <p:sp>
        <p:nvSpPr>
          <p:cNvPr id="3" name="Shape 1"/>
          <p:cNvSpPr/>
          <p:nvPr/>
        </p:nvSpPr>
        <p:spPr>
          <a:xfrm>
            <a:off x="9262872" y="-1463040"/>
            <a:ext cx="4572000" cy="4572000"/>
          </a:xfrm>
          <a:prstGeom prst="ellipse">
            <a:avLst/>
          </a:prstGeom>
          <a:solidFill>
            <a:srgbClr val="028090">
              <a:alpha val="45000"/>
            </a:srgbClr>
          </a:solidFill>
          <a:ln/>
        </p:spPr>
      </p:sp>
      <p:sp>
        <p:nvSpPr>
          <p:cNvPr id="4" name="Shape 2"/>
          <p:cNvSpPr/>
          <p:nvPr/>
        </p:nvSpPr>
        <p:spPr>
          <a:xfrm>
            <a:off x="-1645920" y="4480560"/>
            <a:ext cx="3840480" cy="3840480"/>
          </a:xfrm>
          <a:prstGeom prst="ellipse">
            <a:avLst/>
          </a:prstGeom>
          <a:solidFill>
            <a:srgbClr val="00A896">
              <a:alpha val="40000"/>
            </a:srgbClr>
          </a:solidFill>
          <a:ln/>
        </p:spPr>
      </p:sp>
      <p:sp>
        <p:nvSpPr>
          <p:cNvPr id="5" name="Text 3"/>
          <p:cNvSpPr/>
          <p:nvPr/>
        </p:nvSpPr>
        <p:spPr>
          <a:xfrm>
            <a:off x="822960" y="1417320"/>
            <a:ext cx="10543032" cy="548640"/>
          </a:xfrm>
          <a:prstGeom prst="rect">
            <a:avLst/>
          </a:prstGeom>
          <a:noFill/>
          <a:ln/>
        </p:spPr>
        <p:txBody>
          <a:bodyPr wrap="square" rtlCol="0" anchor="ctr"/>
          <a:lstStyle/>
          <a:p>
            <a:pPr algn="ctr" indent="0" marL="0">
              <a:buNone/>
            </a:pPr>
            <a:r>
              <a:rPr lang="en-US" sz="1800" b="1" spc="100" kern="0" dirty="0">
                <a:solidFill>
                  <a:srgbClr val="02C39A"/>
                </a:solidFill>
                <a:latin typeface="Arial" pitchFamily="34" charset="0"/>
                <a:ea typeface="Arial" pitchFamily="34" charset="-122"/>
                <a:cs typeface="Arial" pitchFamily="34" charset="-120"/>
              </a:rPr>
              <a:t>IBM UNIVERSITY ENGAGEMENT PROJECT SUBMISSION</a:t>
            </a:r>
            <a:endParaRPr lang="en-US" sz="1800" dirty="0"/>
          </a:p>
        </p:txBody>
      </p:sp>
      <p:sp>
        <p:nvSpPr>
          <p:cNvPr id="6" name="Text 4"/>
          <p:cNvSpPr/>
          <p:nvPr/>
        </p:nvSpPr>
        <p:spPr>
          <a:xfrm>
            <a:off x="822960" y="2057400"/>
            <a:ext cx="10543032" cy="822960"/>
          </a:xfrm>
          <a:prstGeom prst="rect">
            <a:avLst/>
          </a:prstGeom>
          <a:noFill/>
          <a:ln/>
        </p:spPr>
        <p:txBody>
          <a:bodyPr wrap="square" rtlCol="0" anchor="ctr"/>
          <a:lstStyle/>
          <a:p>
            <a:pPr algn="ctr" indent="0" marL="0">
              <a:buNone/>
            </a:pPr>
            <a:r>
              <a:rPr lang="en-US" sz="2400" i="1" dirty="0">
                <a:solidFill>
                  <a:srgbClr val="FFFFFF"/>
                </a:solidFill>
                <a:latin typeface="Arial" pitchFamily="34" charset="0"/>
                <a:ea typeface="Arial" pitchFamily="34" charset="-122"/>
                <a:cs typeface="Arial" pitchFamily="34" charset="-120"/>
              </a:rPr>
              <a:t>“Exploring the Power of Agentic AI with IBM Granite and IBM Bob”</a:t>
            </a:r>
            <a:endParaRPr lang="en-US" sz="2400" dirty="0"/>
          </a:p>
        </p:txBody>
      </p:sp>
      <p:sp>
        <p:nvSpPr>
          <p:cNvPr id="7" name="Shape 5"/>
          <p:cNvSpPr/>
          <p:nvPr/>
        </p:nvSpPr>
        <p:spPr>
          <a:xfrm>
            <a:off x="4997196" y="3063240"/>
            <a:ext cx="2194560" cy="0"/>
          </a:xfrm>
          <a:prstGeom prst="line">
            <a:avLst/>
          </a:prstGeom>
          <a:noFill/>
          <a:ln w="25400">
            <a:solidFill>
              <a:srgbClr val="02C39A"/>
            </a:solidFill>
            <a:prstDash val="solid"/>
          </a:ln>
        </p:spPr>
      </p:sp>
      <p:sp>
        <p:nvSpPr>
          <p:cNvPr id="8" name="Text 6"/>
          <p:cNvSpPr/>
          <p:nvPr/>
        </p:nvSpPr>
        <p:spPr>
          <a:xfrm>
            <a:off x="822960" y="3291840"/>
            <a:ext cx="10543032"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AI-Powered Nutrition Agent</a:t>
            </a:r>
            <a:endParaRPr lang="en-US" sz="3800" dirty="0"/>
          </a:p>
        </p:txBody>
      </p:sp>
      <p:sp>
        <p:nvSpPr>
          <p:cNvPr id="9" name="Text 7"/>
          <p:cNvSpPr/>
          <p:nvPr/>
        </p:nvSpPr>
        <p:spPr>
          <a:xfrm>
            <a:off x="822960" y="4023360"/>
            <a:ext cx="10543032" cy="457200"/>
          </a:xfrm>
          <a:prstGeom prst="rect">
            <a:avLst/>
          </a:prstGeom>
          <a:noFill/>
          <a:ln/>
        </p:spPr>
        <p:txBody>
          <a:bodyPr wrap="square" rtlCol="0" anchor="ctr"/>
          <a:lstStyle/>
          <a:p>
            <a:pPr algn="ctr" indent="0" marL="0">
              <a:buNone/>
            </a:pPr>
            <a:r>
              <a:rPr lang="en-US" sz="1500" dirty="0">
                <a:solidFill>
                  <a:srgbClr val="CADCFC"/>
                </a:solidFill>
                <a:latin typeface="Arial" pitchFamily="34" charset="0"/>
                <a:ea typeface="Arial" pitchFamily="34" charset="-122"/>
                <a:cs typeface="Arial" pitchFamily="34" charset="-120"/>
              </a:rPr>
              <a:t>Multi-Agent Agentic AI for Personalized Nutrition &amp; Preventive Healthcare Guidance</a:t>
            </a:r>
            <a:endParaRPr lang="en-US" sz="1500" dirty="0"/>
          </a:p>
        </p:txBody>
      </p:sp>
      <p:sp>
        <p:nvSpPr>
          <p:cNvPr id="10" name="Text 8"/>
          <p:cNvSpPr/>
          <p:nvPr/>
        </p:nvSpPr>
        <p:spPr>
          <a:xfrm>
            <a:off x="822960" y="5074920"/>
            <a:ext cx="10543032" cy="365760"/>
          </a:xfrm>
          <a:prstGeom prst="rect">
            <a:avLst/>
          </a:prstGeom>
          <a:noFill/>
          <a:ln/>
        </p:spPr>
        <p:txBody>
          <a:bodyPr wrap="square" rtlCol="0" anchor="ctr"/>
          <a:lstStyle/>
          <a:p>
            <a:pPr algn="ctr" indent="0" marL="0">
              <a:buNone/>
            </a:pPr>
            <a:r>
              <a:rPr lang="en-US" sz="1700" b="1" dirty="0">
                <a:solidFill>
                  <a:srgbClr val="02C39A"/>
                </a:solidFill>
                <a:latin typeface="Arial" pitchFamily="34" charset="0"/>
                <a:ea typeface="Arial" pitchFamily="34" charset="-122"/>
                <a:cs typeface="Arial" pitchFamily="34" charset="-120"/>
              </a:rPr>
              <a:t>Student: </a:t>
            </a:r>
            <a:pPr algn="ctr" indent="0" marL="0">
              <a:buNone/>
            </a:pPr>
            <a:r>
              <a:rPr lang="en-US" sz="1700" b="1" dirty="0">
                <a:solidFill>
                  <a:srgbClr val="FFFFFF"/>
                </a:solidFill>
                <a:latin typeface="Arial" pitchFamily="34" charset="0"/>
                <a:ea typeface="Arial" pitchFamily="34" charset="-122"/>
                <a:cs typeface="Arial" pitchFamily="34" charset="-120"/>
              </a:rPr>
              <a:t>MOHAMMAD KALEEM SHAIKH</a:t>
            </a:r>
            <a:endParaRPr lang="en-US" sz="1700" dirty="0"/>
          </a:p>
        </p:txBody>
      </p:sp>
      <p:sp>
        <p:nvSpPr>
          <p:cNvPr id="11" name="Text 9"/>
          <p:cNvSpPr/>
          <p:nvPr/>
        </p:nvSpPr>
        <p:spPr>
          <a:xfrm>
            <a:off x="822960" y="5532120"/>
            <a:ext cx="10543032" cy="365760"/>
          </a:xfrm>
          <a:prstGeom prst="rect">
            <a:avLst/>
          </a:prstGeom>
          <a:noFill/>
          <a:ln/>
        </p:spPr>
        <p:txBody>
          <a:bodyPr wrap="square" rtlCol="0" anchor="ctr"/>
          <a:lstStyle/>
          <a:p>
            <a:pPr algn="ctr" indent="0" marL="0">
              <a:buNone/>
            </a:pPr>
            <a:r>
              <a:rPr lang="en-US" sz="1300" dirty="0">
                <a:solidFill>
                  <a:srgbClr val="A9C6CE"/>
                </a:solidFill>
                <a:latin typeface="Arial" pitchFamily="34" charset="0"/>
                <a:ea typeface="Arial" pitchFamily="34" charset="-122"/>
                <a:cs typeface="Arial" pitchFamily="34" charset="-120"/>
              </a:rPr>
              <a:t>AICTE – 2026  |  IBM SkillsBuild for University Engagements  |  Edunet Foundation</a:t>
            </a:r>
            <a:endParaRPr lang="en-US" sz="1300" dirty="0"/>
          </a:p>
        </p:txBody>
      </p:sp>
      <p:sp>
        <p:nvSpPr>
          <p:cNvPr id="12" name="Text 10"/>
          <p:cNvSpPr/>
          <p:nvPr/>
        </p:nvSpPr>
        <p:spPr>
          <a:xfrm>
            <a:off x="822960" y="5852160"/>
            <a:ext cx="10543032" cy="365760"/>
          </a:xfrm>
          <a:prstGeom prst="rect">
            <a:avLst/>
          </a:prstGeom>
          <a:noFill/>
          <a:ln/>
        </p:spPr>
        <p:txBody>
          <a:bodyPr wrap="square" rtlCol="0" anchor="ctr"/>
          <a:lstStyle/>
          <a:p>
            <a:pPr algn="ctr" indent="0" marL="0">
              <a:buNone/>
            </a:pPr>
            <a:r>
              <a:rPr lang="en-US" sz="1300" dirty="0">
                <a:solidFill>
                  <a:srgbClr val="A9C6CE"/>
                </a:solidFill>
                <a:latin typeface="Arial" pitchFamily="34" charset="0"/>
                <a:ea typeface="Arial" pitchFamily="34" charset="-122"/>
                <a:cs typeface="Arial" pitchFamily="34" charset="-120"/>
              </a:rPr>
              <a:t>Domain: Healthcare / Nutrition / Preventive Wellness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Student Details</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1463040"/>
        </p:xfrm>
        <a:graphic>
          <a:graphicData uri="http://schemas.openxmlformats.org/drawingml/2006/table">
            <a:tbl>
              <a:tblPr/>
              <a:tblGrid>
                <a:gridCol w="2772918"/>
                <a:gridCol w="2772918"/>
                <a:gridCol w="2772918"/>
                <a:gridCol w="2772918"/>
              </a:tblGrid>
              <a:tr h="731520">
                <a:tc>
                  <a:txBody>
                    <a:bodyPr/>
                    <a:lstStyle/>
                    <a:p>
                      <a:pPr indent="0" marL="0">
                        <a:buNone/>
                      </a:pPr>
                      <a:r>
                        <a:rPr lang="en-US" sz="1400" b="1" dirty="0">
                          <a:solidFill>
                            <a:srgbClr val="282A2E"/>
                          </a:solidFill>
                          <a:latin typeface="Arial" pitchFamily="34" charset="0"/>
                          <a:ea typeface="Arial" pitchFamily="34" charset="-122"/>
                          <a:cs typeface="Arial" pitchFamily="34" charset="-120"/>
                        </a:rPr>
                        <a:t>Student Name</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solidFill>
                      <a:srgbClr val="E6E9E8"/>
                    </a:solidFill>
                  </a:tcPr>
                </a:tc>
                <a:tc>
                  <a:txBody>
                    <a:bodyPr/>
                    <a:lstStyle/>
                    <a:p>
                      <a:pPr indent="0" marL="0">
                        <a:buNone/>
                      </a:pPr>
                      <a:r>
                        <a:rPr lang="en-US" sz="1400" b="1" dirty="0">
                          <a:solidFill>
                            <a:srgbClr val="282A2E"/>
                          </a:solidFill>
                          <a:latin typeface="Arial" pitchFamily="34" charset="0"/>
                          <a:ea typeface="Arial" pitchFamily="34" charset="-122"/>
                          <a:cs typeface="Arial" pitchFamily="34" charset="-120"/>
                        </a:rPr>
                        <a:t>Recent Passport Photo</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solidFill>
                      <a:srgbClr val="E6E9E8"/>
                    </a:solidFill>
                  </a:tcPr>
                </a:tc>
                <a:tc>
                  <a:txBody>
                    <a:bodyPr/>
                    <a:lstStyle/>
                    <a:p>
                      <a:pPr indent="0" marL="0">
                        <a:buNone/>
                      </a:pPr>
                      <a:r>
                        <a:rPr lang="en-US" sz="1400" b="1" dirty="0">
                          <a:solidFill>
                            <a:srgbClr val="282A2E"/>
                          </a:solidFill>
                          <a:latin typeface="Arial" pitchFamily="34" charset="0"/>
                          <a:ea typeface="Arial" pitchFamily="34" charset="-122"/>
                          <a:cs typeface="Arial" pitchFamily="34" charset="-120"/>
                        </a:rPr>
                        <a:t>Email ID</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solidFill>
                      <a:srgbClr val="E6E9E8"/>
                    </a:solidFill>
                  </a:tcPr>
                </a:tc>
                <a:tc>
                  <a:txBody>
                    <a:bodyPr/>
                    <a:lstStyle/>
                    <a:p>
                      <a:pPr indent="0" marL="0">
                        <a:buNone/>
                      </a:pPr>
                      <a:r>
                        <a:rPr lang="en-US" sz="1400" b="1" dirty="0">
                          <a:solidFill>
                            <a:srgbClr val="282A2E"/>
                          </a:solidFill>
                          <a:latin typeface="Arial" pitchFamily="34" charset="0"/>
                          <a:ea typeface="Arial" pitchFamily="34" charset="-122"/>
                          <a:cs typeface="Arial" pitchFamily="34" charset="-120"/>
                        </a:rPr>
                        <a:t>Mobile Number</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solidFill>
                      <a:srgbClr val="E6E9E8"/>
                    </a:solidFill>
                  </a:tcPr>
                </a:tc>
              </a:tr>
              <a:tr h="731520">
                <a:tc>
                  <a:txBody>
                    <a:bodyPr/>
                    <a:lstStyle/>
                    <a:p>
                      <a:pPr indent="0" marL="0">
                        <a:buNone/>
                      </a:pPr>
                      <a:r>
                        <a:rPr lang="en-US" sz="1400" dirty="0">
                          <a:solidFill>
                            <a:srgbClr val="282A2E"/>
                          </a:solidFill>
                          <a:latin typeface="Arial" pitchFamily="34" charset="0"/>
                          <a:ea typeface="Arial" pitchFamily="34" charset="-122"/>
                          <a:cs typeface="Arial" pitchFamily="34" charset="-120"/>
                        </a:rPr>
                        <a:t>MOHAMMAD KALEEM SHAIKH</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tcPr>
                </a:tc>
                <a:tc>
                  <a:txBody>
                    <a:bodyPr/>
                    <a:lstStyle/>
                    <a:p>
                      <a:pPr indent="0" marL="0">
                        <a:buNone/>
                      </a:pPr>
                      <a:r>
                        <a:rPr lang="en-US" sz="1400" i="1" dirty="0">
                          <a:solidFill>
                            <a:srgbClr val="6E7880"/>
                          </a:solidFill>
                          <a:latin typeface="Arial" pitchFamily="34" charset="0"/>
                          <a:ea typeface="Arial" pitchFamily="34" charset="-122"/>
                          <a:cs typeface="Arial" pitchFamily="34" charset="-120"/>
                        </a:rPr>
                        <a:t>[ Photo to be added by student ]</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tcPr>
                </a:tc>
                <a:tc>
                  <a:txBody>
                    <a:bodyPr/>
                    <a:lstStyle/>
                    <a:p>
                      <a:pPr indent="0" marL="0">
                        <a:buNone/>
                      </a:pPr>
                      <a:r>
                        <a:rPr lang="en-US" sz="1400" i="1" dirty="0">
                          <a:solidFill>
                            <a:srgbClr val="6E7880"/>
                          </a:solidFill>
                          <a:latin typeface="Arial" pitchFamily="34" charset="0"/>
                          <a:ea typeface="Arial" pitchFamily="34" charset="-122"/>
                          <a:cs typeface="Arial" pitchFamily="34" charset="-120"/>
                        </a:rPr>
                        <a:t>[ Email to be added by student ]</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tcPr>
                </a:tc>
                <a:tc>
                  <a:txBody>
                    <a:bodyPr/>
                    <a:lstStyle/>
                    <a:p>
                      <a:pPr indent="0" marL="0">
                        <a:buNone/>
                      </a:pPr>
                      <a:r>
                        <a:rPr lang="en-US" sz="1400" i="1" dirty="0">
                          <a:solidFill>
                            <a:srgbClr val="6E7880"/>
                          </a:solidFill>
                          <a:latin typeface="Arial" pitchFamily="34" charset="0"/>
                          <a:ea typeface="Arial" pitchFamily="34" charset="-122"/>
                          <a:cs typeface="Arial" pitchFamily="34" charset="-120"/>
                        </a:rPr>
                        <a:t>[ Mobile / WhatsApp to be added ]</a:t>
                      </a:r>
                      <a:endParaRPr lang="en-US" sz="1400" dirty="0">
                        <a:latin typeface="Arial" charset="0"/>
                        <a:ea typeface="Arial" charset="0"/>
                        <a:cs typeface="Arial" charset="0"/>
                      </a:endParaRPr>
                    </a:p>
                  </a:txBody>
                  <a:tcPr marL="91440" marR="91440" marT="45720" marB="45720" anchor="ctr">
                    <a:lnL w="12700" cap="flat" cmpd="sng" algn="ctr">
                      <a:solidFill>
                        <a:srgbClr val="E6E9E8"/>
                      </a:solidFill>
                      <a:prstDash val="solid"/>
                      <a:round/>
                      <a:headEnd type="none" w="med" len="med"/>
                      <a:tailEnd type="none" w="med" len="med"/>
                    </a:lnL>
                    <a:lnR w="12700" cap="flat" cmpd="sng" algn="ctr">
                      <a:solidFill>
                        <a:srgbClr val="E6E9E8"/>
                      </a:solidFill>
                      <a:prstDash val="solid"/>
                      <a:round/>
                      <a:headEnd type="none" w="med" len="med"/>
                      <a:tailEnd type="none" w="med" len="med"/>
                    </a:lnR>
                    <a:lnT w="12700" cap="flat" cmpd="sng" algn="ctr">
                      <a:solidFill>
                        <a:srgbClr val="E6E9E8"/>
                      </a:solidFill>
                      <a:prstDash val="solid"/>
                      <a:round/>
                      <a:headEnd type="none" w="med" len="med"/>
                      <a:tailEnd type="none" w="med" len="med"/>
                    </a:lnT>
                    <a:lnB w="12700" cap="flat" cmpd="sng" algn="ctr">
                      <a:solidFill>
                        <a:srgbClr val="E6E9E8"/>
                      </a:solidFill>
                      <a:prstDash val="solid"/>
                      <a:round/>
                      <a:headEnd type="none" w="med" len="med"/>
                      <a:tailEnd type="none" w="med" len="med"/>
                    </a:lnB>
                  </a:tcPr>
                </a:tc>
              </a:tr>
            </a:tbl>
          </a:graphicData>
        </a:graphic>
      </p:graphicFrame>
      <p:sp>
        <p:nvSpPr>
          <p:cNvPr id="4" name="Text 1"/>
          <p:cNvSpPr/>
          <p:nvPr/>
        </p:nvSpPr>
        <p:spPr>
          <a:xfrm>
            <a:off x="548640" y="3383280"/>
            <a:ext cx="5486400" cy="365760"/>
          </a:xfrm>
          <a:prstGeom prst="rect">
            <a:avLst/>
          </a:prstGeom>
          <a:noFill/>
          <a:ln/>
        </p:spPr>
        <p:txBody>
          <a:bodyPr wrap="square" rtlCol="0" anchor="ctr"/>
          <a:lstStyle/>
          <a:p>
            <a:pPr indent="0" marL="0">
              <a:buNone/>
            </a:pPr>
            <a:r>
              <a:rPr lang="en-US" sz="1800" b="1" dirty="0">
                <a:solidFill>
                  <a:srgbClr val="022B3A"/>
                </a:solidFill>
                <a:latin typeface="Arial" pitchFamily="34" charset="0"/>
                <a:ea typeface="Arial" pitchFamily="34" charset="-122"/>
                <a:cs typeface="Arial" pitchFamily="34" charset="-120"/>
              </a:rPr>
              <a:t>Project Domain</a:t>
            </a:r>
            <a:endParaRPr lang="en-US" sz="1800" dirty="0"/>
          </a:p>
        </p:txBody>
      </p:sp>
      <p:sp>
        <p:nvSpPr>
          <p:cNvPr id="5" name="Text 2"/>
          <p:cNvSpPr/>
          <p:nvPr/>
        </p:nvSpPr>
        <p:spPr>
          <a:xfrm>
            <a:off x="548640" y="3794760"/>
            <a:ext cx="5486400" cy="1645920"/>
          </a:xfrm>
          <a:prstGeom prst="rect">
            <a:avLst/>
          </a:prstGeom>
          <a:noFill/>
          <a:ln/>
        </p:spPr>
        <p:txBody>
          <a:bodyPr wrap="square" rtlCol="0" anchor="t"/>
          <a:lstStyle/>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Healthcare / Nutrition / Preventive Wellness</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Project Title: AI-Powered Nutrition Agent</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Theme: Exploring the Power of Agentic AI with IBM Granite and IBM Bob</a:t>
            </a:r>
            <a:endParaRPr lang="en-US" sz="1500" dirty="0"/>
          </a:p>
        </p:txBody>
      </p:sp>
      <p:sp>
        <p:nvSpPr>
          <p:cNvPr id="6" name="Text 3"/>
          <p:cNvSpPr/>
          <p:nvPr/>
        </p:nvSpPr>
        <p:spPr>
          <a:xfrm>
            <a:off x="6492240" y="3383280"/>
            <a:ext cx="5120640" cy="365760"/>
          </a:xfrm>
          <a:prstGeom prst="rect">
            <a:avLst/>
          </a:prstGeom>
          <a:noFill/>
          <a:ln/>
        </p:spPr>
        <p:txBody>
          <a:bodyPr wrap="square" rtlCol="0" anchor="ctr"/>
          <a:lstStyle/>
          <a:p>
            <a:pPr indent="0" marL="0">
              <a:buNone/>
            </a:pPr>
            <a:r>
              <a:rPr lang="en-US" sz="1800" b="1" dirty="0">
                <a:solidFill>
                  <a:srgbClr val="022B3A"/>
                </a:solidFill>
                <a:latin typeface="Arial" pitchFamily="34" charset="0"/>
                <a:ea typeface="Arial" pitchFamily="34" charset="-122"/>
                <a:cs typeface="Arial" pitchFamily="34" charset="-120"/>
              </a:rPr>
              <a:t>Institution Context</a:t>
            </a:r>
            <a:endParaRPr lang="en-US" sz="1800" dirty="0"/>
          </a:p>
        </p:txBody>
      </p:sp>
      <p:sp>
        <p:nvSpPr>
          <p:cNvPr id="7" name="Text 4"/>
          <p:cNvSpPr/>
          <p:nvPr/>
        </p:nvSpPr>
        <p:spPr>
          <a:xfrm>
            <a:off x="6492240" y="3794760"/>
            <a:ext cx="5120640" cy="1645920"/>
          </a:xfrm>
          <a:prstGeom prst="rect">
            <a:avLst/>
          </a:prstGeom>
          <a:noFill/>
          <a:ln/>
        </p:spPr>
        <p:txBody>
          <a:bodyPr wrap="square" rtlCol="0" anchor="t"/>
          <a:lstStyle/>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AICTE – 2026, Problem Statement No. 8 (Nutrition Agent)</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IBM SkillsBuild for University Engagements</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Edunet Foundation Program</a:t>
            </a:r>
            <a:endParaRPr lang="en-US" sz="1500" dirty="0"/>
          </a:p>
        </p:txBody>
      </p:sp>
      <p:sp>
        <p:nvSpPr>
          <p:cNvPr id="8" name="Text 5"/>
          <p:cNvSpPr/>
          <p:nvPr/>
        </p:nvSpPr>
        <p:spPr>
          <a:xfrm>
            <a:off x="548640" y="5943600"/>
            <a:ext cx="11091672" cy="457200"/>
          </a:xfrm>
          <a:prstGeom prst="rect">
            <a:avLst/>
          </a:prstGeom>
          <a:noFill/>
          <a:ln/>
        </p:spPr>
        <p:txBody>
          <a:bodyPr wrap="square" rtlCol="0" anchor="ctr"/>
          <a:lstStyle/>
          <a:p>
            <a:pPr indent="0" marL="0">
              <a:buNone/>
            </a:pPr>
            <a:r>
              <a:rPr lang="en-US" sz="1100" i="1" dirty="0">
                <a:solidFill>
                  <a:srgbClr val="6E7880"/>
                </a:solidFill>
                <a:latin typeface="Arial" pitchFamily="34" charset="0"/>
                <a:ea typeface="Arial" pitchFamily="34" charset="-122"/>
                <a:cs typeface="Arial" pitchFamily="34" charset="-120"/>
              </a:rPr>
              <a:t>Note: Fields not supplied by the student are marked as placeholders and must be completed before final submission.</a:t>
            </a:r>
            <a:endParaRPr lang="en-US" sz="1100" dirty="0"/>
          </a:p>
        </p:txBody>
      </p:sp>
      <p:sp>
        <p:nvSpPr>
          <p:cNvPr id="9" name="Text 6"/>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Problem Statement</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AICTE Problem Statement No. 8 — Nutrition Agent</a:t>
            </a:r>
            <a:endParaRPr lang="en-US" sz="1500" dirty="0"/>
          </a:p>
        </p:txBody>
      </p:sp>
      <p:sp>
        <p:nvSpPr>
          <p:cNvPr id="4" name="Shape 2"/>
          <p:cNvSpPr/>
          <p:nvPr/>
        </p:nvSpPr>
        <p:spPr>
          <a:xfrm>
            <a:off x="548640" y="1417320"/>
            <a:ext cx="5532120" cy="4892040"/>
          </a:xfrm>
          <a:prstGeom prst="rect">
            <a:avLst>
              <a:gd name="adj" fmla="val 1495"/>
            </a:avLst>
          </a:prstGeom>
          <a:solidFill>
            <a:srgbClr val="F7F7F5"/>
          </a:solidFill>
          <a:ln/>
        </p:spPr>
      </p:sp>
      <p:sp>
        <p:nvSpPr>
          <p:cNvPr id="5" name="Text 3"/>
          <p:cNvSpPr/>
          <p:nvPr/>
        </p:nvSpPr>
        <p:spPr>
          <a:xfrm>
            <a:off x="777240" y="1600200"/>
            <a:ext cx="5120640" cy="365760"/>
          </a:xfrm>
          <a:prstGeom prst="rect">
            <a:avLst/>
          </a:prstGeom>
          <a:noFill/>
          <a:ln/>
        </p:spPr>
        <p:txBody>
          <a:bodyPr wrap="square" rtlCol="0" anchor="ctr"/>
          <a:lstStyle/>
          <a:p>
            <a:pPr indent="0" marL="0">
              <a:buNone/>
            </a:pPr>
            <a:r>
              <a:rPr lang="en-US" sz="1700" b="1" dirty="0">
                <a:solidFill>
                  <a:srgbClr val="028090"/>
                </a:solidFill>
                <a:latin typeface="Arial" pitchFamily="34" charset="0"/>
                <a:ea typeface="Arial" pitchFamily="34" charset="-122"/>
                <a:cs typeface="Arial" pitchFamily="34" charset="-120"/>
              </a:rPr>
              <a:t>The Challenge</a:t>
            </a:r>
            <a:endParaRPr lang="en-US" sz="1700" dirty="0"/>
          </a:p>
        </p:txBody>
      </p:sp>
      <p:sp>
        <p:nvSpPr>
          <p:cNvPr id="6" name="Text 4"/>
          <p:cNvSpPr/>
          <p:nvPr/>
        </p:nvSpPr>
        <p:spPr>
          <a:xfrm>
            <a:off x="777240" y="2011680"/>
            <a:ext cx="5120640" cy="4114800"/>
          </a:xfrm>
          <a:prstGeom prst="rect">
            <a:avLst/>
          </a:prstGeom>
          <a:noFill/>
          <a:ln/>
        </p:spPr>
        <p:txBody>
          <a:bodyPr wrap="square" rtlCol="0" anchor="t"/>
          <a:lstStyle/>
          <a:p>
            <a:pPr indent="0" marL="0">
              <a:lnSpc>
                <a:spcPct val="115000"/>
              </a:lnSpc>
              <a:buNone/>
            </a:pPr>
            <a:r>
              <a:rPr lang="en-US" sz="1350" dirty="0">
                <a:solidFill>
                  <a:srgbClr val="282A2E"/>
                </a:solidFill>
                <a:latin typeface="Arial" pitchFamily="34" charset="0"/>
                <a:ea typeface="Arial" pitchFamily="34" charset="-122"/>
                <a:cs typeface="Arial" pitchFamily="34" charset="-120"/>
              </a:rPr>
              <a:t>In an era of growing health awareness, individuals increasingly seek personalized nutrition guidance. Most existing tools provide generic diet plans, lack real-time adaptability, and fail to consider a person's holistic lifestyle, cultural preferences, allergies, and evolving health conditions. Dieticians and nutritionists also face limits in scaling personalized consultations due to time and resource constraints. Generative AI presents an opportunity to build an intelligent, interactive, adaptive virtual nutrition assistant.</a:t>
            </a:r>
            <a:endParaRPr lang="en-US" sz="1350" dirty="0"/>
          </a:p>
        </p:txBody>
      </p:sp>
      <p:sp>
        <p:nvSpPr>
          <p:cNvPr id="7" name="Shape 5"/>
          <p:cNvSpPr/>
          <p:nvPr/>
        </p:nvSpPr>
        <p:spPr>
          <a:xfrm>
            <a:off x="6263640" y="1417320"/>
            <a:ext cx="5394960" cy="4892040"/>
          </a:xfrm>
          <a:prstGeom prst="rect">
            <a:avLst>
              <a:gd name="adj" fmla="val 1495"/>
            </a:avLst>
          </a:prstGeom>
          <a:solidFill>
            <a:srgbClr val="022B3A"/>
          </a:solidFill>
          <a:ln/>
        </p:spPr>
      </p:sp>
      <p:sp>
        <p:nvSpPr>
          <p:cNvPr id="8" name="Text 6"/>
          <p:cNvSpPr/>
          <p:nvPr/>
        </p:nvSpPr>
        <p:spPr>
          <a:xfrm>
            <a:off x="6492240" y="1600200"/>
            <a:ext cx="4937760" cy="365760"/>
          </a:xfrm>
          <a:prstGeom prst="rect">
            <a:avLst/>
          </a:prstGeom>
          <a:noFill/>
          <a:ln/>
        </p:spPr>
        <p:txBody>
          <a:bodyPr wrap="square" rtlCol="0" anchor="ctr"/>
          <a:lstStyle/>
          <a:p>
            <a:pPr indent="0" marL="0">
              <a:buNone/>
            </a:pPr>
            <a:r>
              <a:rPr lang="en-US" sz="1700" b="1" dirty="0">
                <a:solidFill>
                  <a:srgbClr val="02C39A"/>
                </a:solidFill>
                <a:latin typeface="Arial" pitchFamily="34" charset="0"/>
                <a:ea typeface="Arial" pitchFamily="34" charset="-122"/>
                <a:cs typeface="Arial" pitchFamily="34" charset="-120"/>
              </a:rPr>
              <a:t>Real-World Pain Points</a:t>
            </a:r>
            <a:endParaRPr lang="en-US" sz="1700" dirty="0"/>
          </a:p>
        </p:txBody>
      </p:sp>
      <p:sp>
        <p:nvSpPr>
          <p:cNvPr id="9" name="Text 7"/>
          <p:cNvSpPr/>
          <p:nvPr/>
        </p:nvSpPr>
        <p:spPr>
          <a:xfrm>
            <a:off x="6492240" y="2011680"/>
            <a:ext cx="4937760" cy="411480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Difficulty in day-to-day diet planning and portion control</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Nutritional tracking is manual, tedious and error-prone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Nutrition information is scattered across unreliable sources</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Lack of personalization for allergies, culture, fitness goals</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Preventive healthcare (diabetes, heart health) guidance is hard to access at scale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Nutritionists cannot scale 1:1 consultations to every individual</a:t>
            </a:r>
            <a:endParaRPr lang="en-US" sz="1500" dirty="0"/>
          </a:p>
        </p:txBody>
      </p:sp>
      <p:sp>
        <p:nvSpPr>
          <p:cNvPr id="10" name="Text 8"/>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Objective</a:t>
            </a:r>
            <a:endParaRPr lang="en-US" sz="2800" dirty="0"/>
          </a:p>
        </p:txBody>
      </p:sp>
      <p:sp>
        <p:nvSpPr>
          <p:cNvPr id="3" name="Shape 1"/>
          <p:cNvSpPr/>
          <p:nvPr/>
        </p:nvSpPr>
        <p:spPr>
          <a:xfrm>
            <a:off x="548640" y="1554480"/>
            <a:ext cx="3514344" cy="2148840"/>
          </a:xfrm>
          <a:prstGeom prst="rect">
            <a:avLst>
              <a:gd name="adj" fmla="val 3404"/>
            </a:avLst>
          </a:prstGeom>
          <a:solidFill>
            <a:srgbClr val="028090"/>
          </a:solidFill>
          <a:ln/>
        </p:spPr>
      </p:sp>
      <p:sp>
        <p:nvSpPr>
          <p:cNvPr id="4" name="Text 2"/>
          <p:cNvSpPr/>
          <p:nvPr/>
        </p:nvSpPr>
        <p:spPr>
          <a:xfrm>
            <a:off x="777240" y="173736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Personalized Diet Plans</a:t>
            </a:r>
            <a:endParaRPr lang="en-US" sz="1500" dirty="0"/>
          </a:p>
        </p:txBody>
      </p:sp>
      <p:sp>
        <p:nvSpPr>
          <p:cNvPr id="5" name="Text 3"/>
          <p:cNvSpPr/>
          <p:nvPr/>
        </p:nvSpPr>
        <p:spPr>
          <a:xfrm>
            <a:off x="777240" y="228600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Recommend meals based on age, health conditions, allergies, culture and fitness goals.</a:t>
            </a:r>
            <a:endParaRPr lang="en-US" sz="1200" dirty="0"/>
          </a:p>
        </p:txBody>
      </p:sp>
      <p:sp>
        <p:nvSpPr>
          <p:cNvPr id="6" name="Shape 4"/>
          <p:cNvSpPr/>
          <p:nvPr/>
        </p:nvSpPr>
        <p:spPr>
          <a:xfrm>
            <a:off x="4337304" y="1554480"/>
            <a:ext cx="3514344" cy="2148840"/>
          </a:xfrm>
          <a:prstGeom prst="rect">
            <a:avLst>
              <a:gd name="adj" fmla="val 3404"/>
            </a:avLst>
          </a:prstGeom>
          <a:solidFill>
            <a:srgbClr val="028090"/>
          </a:solidFill>
          <a:ln/>
        </p:spPr>
      </p:sp>
      <p:sp>
        <p:nvSpPr>
          <p:cNvPr id="7" name="Text 5"/>
          <p:cNvSpPr/>
          <p:nvPr/>
        </p:nvSpPr>
        <p:spPr>
          <a:xfrm>
            <a:off x="4565904" y="173736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Food Data RAG Retrieval</a:t>
            </a:r>
            <a:endParaRPr lang="en-US" sz="1500" dirty="0"/>
          </a:p>
        </p:txBody>
      </p:sp>
      <p:sp>
        <p:nvSpPr>
          <p:cNvPr id="8" name="Text 6"/>
          <p:cNvSpPr/>
          <p:nvPr/>
        </p:nvSpPr>
        <p:spPr>
          <a:xfrm>
            <a:off x="4565904" y="228600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Fetch and summarize nutritional values (calories, macros, vitamins) from trusted sources.</a:t>
            </a:r>
            <a:endParaRPr lang="en-US" sz="1200" dirty="0"/>
          </a:p>
        </p:txBody>
      </p:sp>
      <p:sp>
        <p:nvSpPr>
          <p:cNvPr id="9" name="Shape 7"/>
          <p:cNvSpPr/>
          <p:nvPr/>
        </p:nvSpPr>
        <p:spPr>
          <a:xfrm>
            <a:off x="8125968" y="1554480"/>
            <a:ext cx="3514344" cy="2148840"/>
          </a:xfrm>
          <a:prstGeom prst="rect">
            <a:avLst>
              <a:gd name="adj" fmla="val 3404"/>
            </a:avLst>
          </a:prstGeom>
          <a:solidFill>
            <a:srgbClr val="028090"/>
          </a:solidFill>
          <a:ln/>
        </p:spPr>
      </p:sp>
      <p:sp>
        <p:nvSpPr>
          <p:cNvPr id="10" name="Text 8"/>
          <p:cNvSpPr/>
          <p:nvPr/>
        </p:nvSpPr>
        <p:spPr>
          <a:xfrm>
            <a:off x="8354568" y="173736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Diet Tracking &amp; Feedback</a:t>
            </a:r>
            <a:endParaRPr lang="en-US" sz="1500" dirty="0"/>
          </a:p>
        </p:txBody>
      </p:sp>
      <p:sp>
        <p:nvSpPr>
          <p:cNvPr id="11" name="Text 9"/>
          <p:cNvSpPr/>
          <p:nvPr/>
        </p:nvSpPr>
        <p:spPr>
          <a:xfrm>
            <a:off x="8354568" y="228600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Let users log meals via text/image/voice and receive instant nutritional analysis.</a:t>
            </a:r>
            <a:endParaRPr lang="en-US" sz="1200" dirty="0"/>
          </a:p>
        </p:txBody>
      </p:sp>
      <p:sp>
        <p:nvSpPr>
          <p:cNvPr id="12" name="Shape 10"/>
          <p:cNvSpPr/>
          <p:nvPr/>
        </p:nvSpPr>
        <p:spPr>
          <a:xfrm>
            <a:off x="548640" y="3977640"/>
            <a:ext cx="3514344" cy="2148840"/>
          </a:xfrm>
          <a:prstGeom prst="rect">
            <a:avLst>
              <a:gd name="adj" fmla="val 3404"/>
            </a:avLst>
          </a:prstGeom>
          <a:solidFill>
            <a:srgbClr val="00A896"/>
          </a:solidFill>
          <a:ln/>
        </p:spPr>
      </p:sp>
      <p:sp>
        <p:nvSpPr>
          <p:cNvPr id="13" name="Text 11"/>
          <p:cNvSpPr/>
          <p:nvPr/>
        </p:nvSpPr>
        <p:spPr>
          <a:xfrm>
            <a:off x="777240" y="416052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Preventive Health Focus</a:t>
            </a:r>
            <a:endParaRPr lang="en-US" sz="1500" dirty="0"/>
          </a:p>
        </p:txBody>
      </p:sp>
      <p:sp>
        <p:nvSpPr>
          <p:cNvPr id="14" name="Text 12"/>
          <p:cNvSpPr/>
          <p:nvPr/>
        </p:nvSpPr>
        <p:spPr>
          <a:xfrm>
            <a:off x="777240" y="470916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Suggest diets for chronic-disease management, e.g. diabetes-friendly, heart-healthy plans.</a:t>
            </a:r>
            <a:endParaRPr lang="en-US" sz="1200" dirty="0"/>
          </a:p>
        </p:txBody>
      </p:sp>
      <p:sp>
        <p:nvSpPr>
          <p:cNvPr id="15" name="Shape 13"/>
          <p:cNvSpPr/>
          <p:nvPr/>
        </p:nvSpPr>
        <p:spPr>
          <a:xfrm>
            <a:off x="4337304" y="3977640"/>
            <a:ext cx="3514344" cy="2148840"/>
          </a:xfrm>
          <a:prstGeom prst="rect">
            <a:avLst>
              <a:gd name="adj" fmla="val 3404"/>
            </a:avLst>
          </a:prstGeom>
          <a:solidFill>
            <a:srgbClr val="00A896"/>
          </a:solidFill>
          <a:ln/>
        </p:spPr>
      </p:sp>
      <p:sp>
        <p:nvSpPr>
          <p:cNvPr id="16" name="Text 14"/>
          <p:cNvSpPr/>
          <p:nvPr/>
        </p:nvSpPr>
        <p:spPr>
          <a:xfrm>
            <a:off x="4565904" y="416052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Multi-Agent Architecture</a:t>
            </a:r>
            <a:endParaRPr lang="en-US" sz="1500" dirty="0"/>
          </a:p>
        </p:txBody>
      </p:sp>
      <p:sp>
        <p:nvSpPr>
          <p:cNvPr id="17" name="Text 15"/>
          <p:cNvSpPr/>
          <p:nvPr/>
        </p:nvSpPr>
        <p:spPr>
          <a:xfrm>
            <a:off x="4565904" y="470916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Specialized agents for knowledge, recommendation, advisory and food-log feedback.</a:t>
            </a:r>
            <a:endParaRPr lang="en-US" sz="1200" dirty="0"/>
          </a:p>
        </p:txBody>
      </p:sp>
      <p:sp>
        <p:nvSpPr>
          <p:cNvPr id="18" name="Shape 16"/>
          <p:cNvSpPr/>
          <p:nvPr/>
        </p:nvSpPr>
        <p:spPr>
          <a:xfrm>
            <a:off x="8125968" y="3977640"/>
            <a:ext cx="3514344" cy="2148840"/>
          </a:xfrm>
          <a:prstGeom prst="rect">
            <a:avLst>
              <a:gd name="adj" fmla="val 3404"/>
            </a:avLst>
          </a:prstGeom>
          <a:solidFill>
            <a:srgbClr val="00A896"/>
          </a:solidFill>
          <a:ln/>
        </p:spPr>
      </p:sp>
      <p:sp>
        <p:nvSpPr>
          <p:cNvPr id="19" name="Text 17"/>
          <p:cNvSpPr/>
          <p:nvPr/>
        </p:nvSpPr>
        <p:spPr>
          <a:xfrm>
            <a:off x="8354568" y="4160520"/>
            <a:ext cx="3057144"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Visualization Dashboard</a:t>
            </a:r>
            <a:endParaRPr lang="en-US" sz="1500" dirty="0"/>
          </a:p>
        </p:txBody>
      </p:sp>
      <p:sp>
        <p:nvSpPr>
          <p:cNvPr id="20" name="Text 18"/>
          <p:cNvSpPr/>
          <p:nvPr/>
        </p:nvSpPr>
        <p:spPr>
          <a:xfrm>
            <a:off x="8354568" y="4709160"/>
            <a:ext cx="3057144" cy="1280160"/>
          </a:xfrm>
          <a:prstGeom prst="rect">
            <a:avLst/>
          </a:prstGeom>
          <a:noFill/>
          <a:ln/>
        </p:spPr>
        <p:txBody>
          <a:bodyPr wrap="square" rtlCol="0" anchor="t"/>
          <a:lstStyle/>
          <a:p>
            <a:pPr indent="0" marL="0">
              <a:lnSpc>
                <a:spcPct val="115000"/>
              </a:lnSpc>
              <a:buNone/>
            </a:pPr>
            <a:r>
              <a:rPr lang="en-US" sz="1200" dirty="0">
                <a:solidFill>
                  <a:srgbClr val="E7F6F3"/>
                </a:solidFill>
                <a:latin typeface="Arial" pitchFamily="34" charset="0"/>
                <a:ea typeface="Arial" pitchFamily="34" charset="-122"/>
                <a:cs typeface="Arial" pitchFamily="34" charset="-120"/>
              </a:rPr>
              <a:t>Show daily/weekly nutrient intake, deficiencies and progress toward health goals.</a:t>
            </a:r>
            <a:endParaRPr lang="en-US" sz="1200" dirty="0"/>
          </a:p>
        </p:txBody>
      </p:sp>
      <p:sp>
        <p:nvSpPr>
          <p:cNvPr id="21" name="Text 19"/>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Proposed Solution</a:t>
            </a:r>
            <a:endParaRPr lang="en-US" sz="2800" dirty="0"/>
          </a:p>
        </p:txBody>
      </p:sp>
      <p:sp>
        <p:nvSpPr>
          <p:cNvPr id="3" name="Text 1"/>
          <p:cNvSpPr/>
          <p:nvPr/>
        </p:nvSpPr>
        <p:spPr>
          <a:xfrm>
            <a:off x="548640" y="1554480"/>
            <a:ext cx="11091672" cy="1371600"/>
          </a:xfrm>
          <a:prstGeom prst="rect">
            <a:avLst/>
          </a:prstGeom>
          <a:noFill/>
          <a:ln/>
        </p:spPr>
        <p:txBody>
          <a:bodyPr wrap="square" rtlCol="0" anchor="t"/>
          <a:lstStyle/>
          <a:p>
            <a:pPr indent="0" marL="0">
              <a:lnSpc>
                <a:spcPct val="120000"/>
              </a:lnSpc>
              <a:buNone/>
            </a:pPr>
            <a:r>
              <a:rPr lang="en-US" sz="1450" dirty="0">
                <a:solidFill>
                  <a:srgbClr val="282A2E"/>
                </a:solidFill>
                <a:latin typeface="Arial" pitchFamily="34" charset="0"/>
                <a:ea typeface="Arial" pitchFamily="34" charset="-122"/>
                <a:cs typeface="Arial" pitchFamily="34" charset="-120"/>
              </a:rPr>
              <a:t>A multi-agent AI-powered Nutrition Agent built around IBM Bob orchestration, IBM Granite models, and IBM watsonx.ai, delivering personalized, real-time dietary guidance. A Retrieval-Augmented Generation (RAG) pipeline grounds every answer in trusted nutrition datasets, while four specialized agents divide the work: retrieving knowledge, recommending diets, giving preventive health advice, and analyzing food logs. A dashboard visualizes progress so users can see their nutrition story unfold day by day.</a:t>
            </a:r>
            <a:endParaRPr lang="en-US" sz="1450" dirty="0"/>
          </a:p>
        </p:txBody>
      </p:sp>
      <p:sp>
        <p:nvSpPr>
          <p:cNvPr id="4" name="Shape 2"/>
          <p:cNvSpPr/>
          <p:nvPr/>
        </p:nvSpPr>
        <p:spPr>
          <a:xfrm>
            <a:off x="548640" y="3108960"/>
            <a:ext cx="2601468" cy="2651760"/>
          </a:xfrm>
          <a:prstGeom prst="roundRect">
            <a:avLst>
              <a:gd name="adj" fmla="val 3515"/>
            </a:avLst>
          </a:prstGeom>
          <a:solidFill>
            <a:srgbClr val="F7F7F5"/>
          </a:solidFill>
          <a:ln w="19050">
            <a:solidFill>
              <a:srgbClr val="028090"/>
            </a:solidFill>
            <a:prstDash val="solid"/>
          </a:ln>
        </p:spPr>
      </p:sp>
      <p:sp>
        <p:nvSpPr>
          <p:cNvPr id="5" name="Shape 3"/>
          <p:cNvSpPr/>
          <p:nvPr/>
        </p:nvSpPr>
        <p:spPr>
          <a:xfrm>
            <a:off x="1593342" y="3337560"/>
            <a:ext cx="512064" cy="512064"/>
          </a:xfrm>
          <a:prstGeom prst="ellipse">
            <a:avLst/>
          </a:prstGeom>
          <a:solidFill>
            <a:srgbClr val="028090"/>
          </a:solidFill>
          <a:ln/>
        </p:spPr>
      </p:sp>
      <p:sp>
        <p:nvSpPr>
          <p:cNvPr id="6" name="Text 4"/>
          <p:cNvSpPr/>
          <p:nvPr/>
        </p:nvSpPr>
        <p:spPr>
          <a:xfrm>
            <a:off x="1593342" y="3337560"/>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685800" y="4023360"/>
            <a:ext cx="2327148" cy="685800"/>
          </a:xfrm>
          <a:prstGeom prst="rect">
            <a:avLst/>
          </a:prstGeom>
          <a:noFill/>
          <a:ln/>
        </p:spPr>
        <p:txBody>
          <a:bodyPr wrap="square" rtlCol="0" anchor="t"/>
          <a:lstStyle/>
          <a:p>
            <a:pPr algn="ctr" indent="0" marL="0">
              <a:buNone/>
            </a:pPr>
            <a:r>
              <a:rPr lang="en-US" sz="1300" b="1" dirty="0">
                <a:solidFill>
                  <a:srgbClr val="022B3A"/>
                </a:solidFill>
                <a:latin typeface="Arial" pitchFamily="34" charset="0"/>
                <a:ea typeface="Arial" pitchFamily="34" charset="-122"/>
                <a:cs typeface="Arial" pitchFamily="34" charset="-120"/>
              </a:rPr>
              <a:t>Nutrition Knowledge Agent</a:t>
            </a:r>
            <a:endParaRPr lang="en-US" sz="1300" dirty="0"/>
          </a:p>
        </p:txBody>
      </p:sp>
      <p:sp>
        <p:nvSpPr>
          <p:cNvPr id="8" name="Text 6"/>
          <p:cNvSpPr/>
          <p:nvPr/>
        </p:nvSpPr>
        <p:spPr>
          <a:xfrm>
            <a:off x="685800" y="4709160"/>
            <a:ext cx="2327148" cy="914400"/>
          </a:xfrm>
          <a:prstGeom prst="rect">
            <a:avLst/>
          </a:prstGeom>
          <a:noFill/>
          <a:ln/>
        </p:spPr>
        <p:txBody>
          <a:bodyPr wrap="square" rtlCol="0" anchor="t"/>
          <a:lstStyle/>
          <a:p>
            <a:pPr algn="ctr" indent="0" marL="0">
              <a:buNone/>
            </a:pPr>
            <a:r>
              <a:rPr lang="en-US" sz="1050" dirty="0">
                <a:solidFill>
                  <a:srgbClr val="6E7880"/>
                </a:solidFill>
                <a:latin typeface="Arial" pitchFamily="34" charset="0"/>
                <a:ea typeface="Arial" pitchFamily="34" charset="-122"/>
                <a:cs typeface="Arial" pitchFamily="34" charset="-120"/>
              </a:rPr>
              <a:t>Retrieves &amp; summarizes nutrition facts via RAG</a:t>
            </a:r>
            <a:endParaRPr lang="en-US" sz="1050" dirty="0"/>
          </a:p>
        </p:txBody>
      </p:sp>
      <p:sp>
        <p:nvSpPr>
          <p:cNvPr id="9" name="Shape 7"/>
          <p:cNvSpPr/>
          <p:nvPr/>
        </p:nvSpPr>
        <p:spPr>
          <a:xfrm>
            <a:off x="3378708" y="3108960"/>
            <a:ext cx="2601468" cy="2651760"/>
          </a:xfrm>
          <a:prstGeom prst="roundRect">
            <a:avLst>
              <a:gd name="adj" fmla="val 3515"/>
            </a:avLst>
          </a:prstGeom>
          <a:solidFill>
            <a:srgbClr val="F7F7F5"/>
          </a:solidFill>
          <a:ln w="19050">
            <a:solidFill>
              <a:srgbClr val="028090"/>
            </a:solidFill>
            <a:prstDash val="solid"/>
          </a:ln>
        </p:spPr>
      </p:sp>
      <p:sp>
        <p:nvSpPr>
          <p:cNvPr id="10" name="Shape 8"/>
          <p:cNvSpPr/>
          <p:nvPr/>
        </p:nvSpPr>
        <p:spPr>
          <a:xfrm>
            <a:off x="4423410" y="3337560"/>
            <a:ext cx="512064" cy="512064"/>
          </a:xfrm>
          <a:prstGeom prst="ellipse">
            <a:avLst/>
          </a:prstGeom>
          <a:solidFill>
            <a:srgbClr val="028090"/>
          </a:solidFill>
          <a:ln/>
        </p:spPr>
      </p:sp>
      <p:sp>
        <p:nvSpPr>
          <p:cNvPr id="11" name="Text 9"/>
          <p:cNvSpPr/>
          <p:nvPr/>
        </p:nvSpPr>
        <p:spPr>
          <a:xfrm>
            <a:off x="4423410" y="3337560"/>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3515868" y="4023360"/>
            <a:ext cx="2327148" cy="685800"/>
          </a:xfrm>
          <a:prstGeom prst="rect">
            <a:avLst/>
          </a:prstGeom>
          <a:noFill/>
          <a:ln/>
        </p:spPr>
        <p:txBody>
          <a:bodyPr wrap="square" rtlCol="0" anchor="t"/>
          <a:lstStyle/>
          <a:p>
            <a:pPr algn="ctr" indent="0" marL="0">
              <a:buNone/>
            </a:pPr>
            <a:r>
              <a:rPr lang="en-US" sz="1300" b="1" dirty="0">
                <a:solidFill>
                  <a:srgbClr val="022B3A"/>
                </a:solidFill>
                <a:latin typeface="Arial" pitchFamily="34" charset="0"/>
                <a:ea typeface="Arial" pitchFamily="34" charset="-122"/>
                <a:cs typeface="Arial" pitchFamily="34" charset="-120"/>
              </a:rPr>
              <a:t>Diet Recommendation Agent</a:t>
            </a:r>
            <a:endParaRPr lang="en-US" sz="1300" dirty="0"/>
          </a:p>
        </p:txBody>
      </p:sp>
      <p:sp>
        <p:nvSpPr>
          <p:cNvPr id="13" name="Text 11"/>
          <p:cNvSpPr/>
          <p:nvPr/>
        </p:nvSpPr>
        <p:spPr>
          <a:xfrm>
            <a:off x="3515868" y="4709160"/>
            <a:ext cx="2327148" cy="914400"/>
          </a:xfrm>
          <a:prstGeom prst="rect">
            <a:avLst/>
          </a:prstGeom>
          <a:noFill/>
          <a:ln/>
        </p:spPr>
        <p:txBody>
          <a:bodyPr wrap="square" rtlCol="0" anchor="t"/>
          <a:lstStyle/>
          <a:p>
            <a:pPr algn="ctr" indent="0" marL="0">
              <a:buNone/>
            </a:pPr>
            <a:r>
              <a:rPr lang="en-US" sz="1050" dirty="0">
                <a:solidFill>
                  <a:srgbClr val="6E7880"/>
                </a:solidFill>
                <a:latin typeface="Arial" pitchFamily="34" charset="0"/>
                <a:ea typeface="Arial" pitchFamily="34" charset="-122"/>
                <a:cs typeface="Arial" pitchFamily="34" charset="-120"/>
              </a:rPr>
              <a:t>Builds personalized meal plans from user profile</a:t>
            </a:r>
            <a:endParaRPr lang="en-US" sz="1050" dirty="0"/>
          </a:p>
        </p:txBody>
      </p:sp>
      <p:sp>
        <p:nvSpPr>
          <p:cNvPr id="14" name="Shape 12"/>
          <p:cNvSpPr/>
          <p:nvPr/>
        </p:nvSpPr>
        <p:spPr>
          <a:xfrm>
            <a:off x="6208776" y="3108960"/>
            <a:ext cx="2601468" cy="2651760"/>
          </a:xfrm>
          <a:prstGeom prst="roundRect">
            <a:avLst>
              <a:gd name="adj" fmla="val 3515"/>
            </a:avLst>
          </a:prstGeom>
          <a:solidFill>
            <a:srgbClr val="F7F7F5"/>
          </a:solidFill>
          <a:ln w="19050">
            <a:solidFill>
              <a:srgbClr val="028090"/>
            </a:solidFill>
            <a:prstDash val="solid"/>
          </a:ln>
        </p:spPr>
      </p:sp>
      <p:sp>
        <p:nvSpPr>
          <p:cNvPr id="15" name="Shape 13"/>
          <p:cNvSpPr/>
          <p:nvPr/>
        </p:nvSpPr>
        <p:spPr>
          <a:xfrm>
            <a:off x="7253478" y="3337560"/>
            <a:ext cx="512064" cy="512064"/>
          </a:xfrm>
          <a:prstGeom prst="ellipse">
            <a:avLst/>
          </a:prstGeom>
          <a:solidFill>
            <a:srgbClr val="028090"/>
          </a:solidFill>
          <a:ln/>
        </p:spPr>
      </p:sp>
      <p:sp>
        <p:nvSpPr>
          <p:cNvPr id="16" name="Text 14"/>
          <p:cNvSpPr/>
          <p:nvPr/>
        </p:nvSpPr>
        <p:spPr>
          <a:xfrm>
            <a:off x="7253478" y="3337560"/>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6345936" y="4023360"/>
            <a:ext cx="2327148" cy="685800"/>
          </a:xfrm>
          <a:prstGeom prst="rect">
            <a:avLst/>
          </a:prstGeom>
          <a:noFill/>
          <a:ln/>
        </p:spPr>
        <p:txBody>
          <a:bodyPr wrap="square" rtlCol="0" anchor="t"/>
          <a:lstStyle/>
          <a:p>
            <a:pPr algn="ctr" indent="0" marL="0">
              <a:buNone/>
            </a:pPr>
            <a:r>
              <a:rPr lang="en-US" sz="1300" b="1" dirty="0">
                <a:solidFill>
                  <a:srgbClr val="022B3A"/>
                </a:solidFill>
                <a:latin typeface="Arial" pitchFamily="34" charset="0"/>
                <a:ea typeface="Arial" pitchFamily="34" charset="-122"/>
                <a:cs typeface="Arial" pitchFamily="34" charset="-120"/>
              </a:rPr>
              <a:t>Health Advisory Agent</a:t>
            </a:r>
            <a:endParaRPr lang="en-US" sz="1300" dirty="0"/>
          </a:p>
        </p:txBody>
      </p:sp>
      <p:sp>
        <p:nvSpPr>
          <p:cNvPr id="18" name="Text 16"/>
          <p:cNvSpPr/>
          <p:nvPr/>
        </p:nvSpPr>
        <p:spPr>
          <a:xfrm>
            <a:off x="6345936" y="4709160"/>
            <a:ext cx="2327148" cy="914400"/>
          </a:xfrm>
          <a:prstGeom prst="rect">
            <a:avLst/>
          </a:prstGeom>
          <a:noFill/>
          <a:ln/>
        </p:spPr>
        <p:txBody>
          <a:bodyPr wrap="square" rtlCol="0" anchor="t"/>
          <a:lstStyle/>
          <a:p>
            <a:pPr algn="ctr" indent="0" marL="0">
              <a:buNone/>
            </a:pPr>
            <a:r>
              <a:rPr lang="en-US" sz="1050" dirty="0">
                <a:solidFill>
                  <a:srgbClr val="6E7880"/>
                </a:solidFill>
                <a:latin typeface="Arial" pitchFamily="34" charset="0"/>
                <a:ea typeface="Arial" pitchFamily="34" charset="-122"/>
                <a:cs typeface="Arial" pitchFamily="34" charset="-120"/>
              </a:rPr>
              <a:t>Preventive, disease-specific dietary suggestions</a:t>
            </a:r>
            <a:endParaRPr lang="en-US" sz="1050" dirty="0"/>
          </a:p>
        </p:txBody>
      </p:sp>
      <p:sp>
        <p:nvSpPr>
          <p:cNvPr id="19" name="Shape 17"/>
          <p:cNvSpPr/>
          <p:nvPr/>
        </p:nvSpPr>
        <p:spPr>
          <a:xfrm>
            <a:off x="9038844" y="3108960"/>
            <a:ext cx="2601468" cy="2651760"/>
          </a:xfrm>
          <a:prstGeom prst="roundRect">
            <a:avLst>
              <a:gd name="adj" fmla="val 3515"/>
            </a:avLst>
          </a:prstGeom>
          <a:solidFill>
            <a:srgbClr val="F7F7F5"/>
          </a:solidFill>
          <a:ln w="19050">
            <a:solidFill>
              <a:srgbClr val="028090"/>
            </a:solidFill>
            <a:prstDash val="solid"/>
          </a:ln>
        </p:spPr>
      </p:sp>
      <p:sp>
        <p:nvSpPr>
          <p:cNvPr id="20" name="Shape 18"/>
          <p:cNvSpPr/>
          <p:nvPr/>
        </p:nvSpPr>
        <p:spPr>
          <a:xfrm>
            <a:off x="10083546" y="3337560"/>
            <a:ext cx="512064" cy="512064"/>
          </a:xfrm>
          <a:prstGeom prst="ellipse">
            <a:avLst/>
          </a:prstGeom>
          <a:solidFill>
            <a:srgbClr val="028090"/>
          </a:solidFill>
          <a:ln/>
        </p:spPr>
      </p:sp>
      <p:sp>
        <p:nvSpPr>
          <p:cNvPr id="21" name="Text 19"/>
          <p:cNvSpPr/>
          <p:nvPr/>
        </p:nvSpPr>
        <p:spPr>
          <a:xfrm>
            <a:off x="10083546" y="3337560"/>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9176004" y="4023360"/>
            <a:ext cx="2327148" cy="685800"/>
          </a:xfrm>
          <a:prstGeom prst="rect">
            <a:avLst/>
          </a:prstGeom>
          <a:noFill/>
          <a:ln/>
        </p:spPr>
        <p:txBody>
          <a:bodyPr wrap="square" rtlCol="0" anchor="t"/>
          <a:lstStyle/>
          <a:p>
            <a:pPr algn="ctr" indent="0" marL="0">
              <a:buNone/>
            </a:pPr>
            <a:r>
              <a:rPr lang="en-US" sz="1300" b="1" dirty="0">
                <a:solidFill>
                  <a:srgbClr val="022B3A"/>
                </a:solidFill>
                <a:latin typeface="Arial" pitchFamily="34" charset="0"/>
                <a:ea typeface="Arial" pitchFamily="34" charset="-122"/>
                <a:cs typeface="Arial" pitchFamily="34" charset="-120"/>
              </a:rPr>
              <a:t>Food Log &amp; Feedback Agent</a:t>
            </a:r>
            <a:endParaRPr lang="en-US" sz="1300" dirty="0"/>
          </a:p>
        </p:txBody>
      </p:sp>
      <p:sp>
        <p:nvSpPr>
          <p:cNvPr id="23" name="Text 21"/>
          <p:cNvSpPr/>
          <p:nvPr/>
        </p:nvSpPr>
        <p:spPr>
          <a:xfrm>
            <a:off x="9176004" y="4709160"/>
            <a:ext cx="2327148" cy="914400"/>
          </a:xfrm>
          <a:prstGeom prst="rect">
            <a:avLst/>
          </a:prstGeom>
          <a:noFill/>
          <a:ln/>
        </p:spPr>
        <p:txBody>
          <a:bodyPr wrap="square" rtlCol="0" anchor="t"/>
          <a:lstStyle/>
          <a:p>
            <a:pPr algn="ctr" indent="0" marL="0">
              <a:buNone/>
            </a:pPr>
            <a:r>
              <a:rPr lang="en-US" sz="1050" dirty="0">
                <a:solidFill>
                  <a:srgbClr val="6E7880"/>
                </a:solidFill>
                <a:latin typeface="Arial" pitchFamily="34" charset="0"/>
                <a:ea typeface="Arial" pitchFamily="34" charset="-122"/>
                <a:cs typeface="Arial" pitchFamily="34" charset="-120"/>
              </a:rPr>
              <a:t>Analyzes logged meals, flags nutritional gaps</a:t>
            </a:r>
            <a:endParaRPr lang="en-US" sz="1050" dirty="0"/>
          </a:p>
        </p:txBody>
      </p:sp>
      <p:sp>
        <p:nvSpPr>
          <p:cNvPr id="24" name="Text 22"/>
          <p:cNvSpPr/>
          <p:nvPr/>
        </p:nvSpPr>
        <p:spPr>
          <a:xfrm>
            <a:off x="548640" y="5989320"/>
            <a:ext cx="11091672" cy="457200"/>
          </a:xfrm>
          <a:prstGeom prst="rect">
            <a:avLst/>
          </a:prstGeom>
          <a:noFill/>
          <a:ln/>
        </p:spPr>
        <p:txBody>
          <a:bodyPr wrap="square" rtlCol="0" anchor="ctr"/>
          <a:lstStyle/>
          <a:p>
            <a:pPr indent="0" marL="0">
              <a:buNone/>
            </a:pPr>
            <a:r>
              <a:rPr lang="en-US" sz="1150" i="1" dirty="0">
                <a:solidFill>
                  <a:srgbClr val="6E7880"/>
                </a:solidFill>
                <a:latin typeface="Arial" pitchFamily="34" charset="0"/>
                <a:ea typeface="Arial" pitchFamily="34" charset="-122"/>
                <a:cs typeface="Arial" pitchFamily="34" charset="-120"/>
              </a:rPr>
              <a:t>IBM Bob orchestrates the four agents; Granite drives language understanding &amp; personalization; watsonx.ai handles deployment, embeddings and governance.</a:t>
            </a:r>
            <a:endParaRPr lang="en-US" sz="1150" dirty="0"/>
          </a:p>
        </p:txBody>
      </p:sp>
      <p:sp>
        <p:nvSpPr>
          <p:cNvPr id="25" name="Text 23"/>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Solution Architecture</a:t>
            </a:r>
            <a:endParaRPr lang="en-US" sz="2800" dirty="0"/>
          </a:p>
        </p:txBody>
      </p:sp>
      <p:pic>
        <p:nvPicPr>
          <p:cNvPr id="3" name="Image 0" descr="/home/claude/assets/architecture.png">    </p:cNvPr>
          <p:cNvPicPr>
            <a:picLocks noChangeAspect="1"/>
          </p:cNvPicPr>
          <p:nvPr/>
        </p:nvPicPr>
        <p:blipFill>
          <a:blip r:embed="rId1"/>
          <a:stretch>
            <a:fillRect/>
          </a:stretch>
        </p:blipFill>
        <p:spPr>
          <a:xfrm>
            <a:off x="3488436" y="1325880"/>
            <a:ext cx="5212080" cy="4896460"/>
          </a:xfrm>
          <a:prstGeom prst="rect">
            <a:avLst/>
          </a:prstGeom>
        </p:spPr>
      </p:pic>
      <p:sp>
        <p:nvSpPr>
          <p:cNvPr id="4" name="Text 1"/>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Technology Used</a:t>
            </a:r>
            <a:endParaRPr lang="en-US" sz="2800" dirty="0"/>
          </a:p>
        </p:txBody>
      </p:sp>
      <p:sp>
        <p:nvSpPr>
          <p:cNvPr id="3" name="Shape 1"/>
          <p:cNvSpPr/>
          <p:nvPr/>
        </p:nvSpPr>
        <p:spPr>
          <a:xfrm>
            <a:off x="548640" y="1600200"/>
            <a:ext cx="2601468" cy="2011680"/>
          </a:xfrm>
          <a:prstGeom prst="roundRect">
            <a:avLst>
              <a:gd name="adj" fmla="val 4091"/>
            </a:avLst>
          </a:prstGeom>
          <a:solidFill>
            <a:srgbClr val="022B3A"/>
          </a:solidFill>
          <a:ln/>
        </p:spPr>
      </p:sp>
      <p:sp>
        <p:nvSpPr>
          <p:cNvPr id="4" name="Text 2"/>
          <p:cNvSpPr/>
          <p:nvPr/>
        </p:nvSpPr>
        <p:spPr>
          <a:xfrm>
            <a:off x="713232" y="1764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IBM Bob</a:t>
            </a:r>
            <a:endParaRPr lang="en-US" sz="1350" dirty="0"/>
          </a:p>
        </p:txBody>
      </p:sp>
      <p:sp>
        <p:nvSpPr>
          <p:cNvPr id="5" name="Text 3"/>
          <p:cNvSpPr/>
          <p:nvPr/>
        </p:nvSpPr>
        <p:spPr>
          <a:xfrm>
            <a:off x="713232" y="2286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Visually designs &amp; orchestrates the multi-agent workflow</a:t>
            </a:r>
            <a:endParaRPr lang="en-US" sz="1050" dirty="0"/>
          </a:p>
        </p:txBody>
      </p:sp>
      <p:sp>
        <p:nvSpPr>
          <p:cNvPr id="6" name="Shape 4"/>
          <p:cNvSpPr/>
          <p:nvPr/>
        </p:nvSpPr>
        <p:spPr>
          <a:xfrm>
            <a:off x="3378708" y="1600200"/>
            <a:ext cx="2601468" cy="2011680"/>
          </a:xfrm>
          <a:prstGeom prst="roundRect">
            <a:avLst>
              <a:gd name="adj" fmla="val 4091"/>
            </a:avLst>
          </a:prstGeom>
          <a:solidFill>
            <a:srgbClr val="022B3A"/>
          </a:solidFill>
          <a:ln/>
        </p:spPr>
      </p:sp>
      <p:sp>
        <p:nvSpPr>
          <p:cNvPr id="7" name="Text 5"/>
          <p:cNvSpPr/>
          <p:nvPr/>
        </p:nvSpPr>
        <p:spPr>
          <a:xfrm>
            <a:off x="3543300" y="1764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IBM Granite Models</a:t>
            </a:r>
            <a:endParaRPr lang="en-US" sz="1350" dirty="0"/>
          </a:p>
        </p:txBody>
      </p:sp>
      <p:sp>
        <p:nvSpPr>
          <p:cNvPr id="8" name="Text 6"/>
          <p:cNvSpPr/>
          <p:nvPr/>
        </p:nvSpPr>
        <p:spPr>
          <a:xfrm>
            <a:off x="3543300" y="2286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e.g. ibm-granite-3-2-8b — NLU, reasoning, personalization</a:t>
            </a:r>
            <a:endParaRPr lang="en-US" sz="1050" dirty="0"/>
          </a:p>
        </p:txBody>
      </p:sp>
      <p:sp>
        <p:nvSpPr>
          <p:cNvPr id="9" name="Shape 7"/>
          <p:cNvSpPr/>
          <p:nvPr/>
        </p:nvSpPr>
        <p:spPr>
          <a:xfrm>
            <a:off x="6208776" y="1600200"/>
            <a:ext cx="2601468" cy="2011680"/>
          </a:xfrm>
          <a:prstGeom prst="roundRect">
            <a:avLst>
              <a:gd name="adj" fmla="val 4091"/>
            </a:avLst>
          </a:prstGeom>
          <a:solidFill>
            <a:srgbClr val="022B3A"/>
          </a:solidFill>
          <a:ln/>
        </p:spPr>
      </p:sp>
      <p:sp>
        <p:nvSpPr>
          <p:cNvPr id="10" name="Text 8"/>
          <p:cNvSpPr/>
          <p:nvPr/>
        </p:nvSpPr>
        <p:spPr>
          <a:xfrm>
            <a:off x="6373368" y="1764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IBM watsonx.ai</a:t>
            </a:r>
            <a:endParaRPr lang="en-US" sz="1350" dirty="0"/>
          </a:p>
        </p:txBody>
      </p:sp>
      <p:sp>
        <p:nvSpPr>
          <p:cNvPr id="11" name="Text 9"/>
          <p:cNvSpPr/>
          <p:nvPr/>
        </p:nvSpPr>
        <p:spPr>
          <a:xfrm>
            <a:off x="6373368" y="2286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Model deployment, embeddings, AI governance</a:t>
            </a:r>
            <a:endParaRPr lang="en-US" sz="1050" dirty="0"/>
          </a:p>
        </p:txBody>
      </p:sp>
      <p:sp>
        <p:nvSpPr>
          <p:cNvPr id="12" name="Shape 10"/>
          <p:cNvSpPr/>
          <p:nvPr/>
        </p:nvSpPr>
        <p:spPr>
          <a:xfrm>
            <a:off x="9038844" y="1600200"/>
            <a:ext cx="2601468" cy="2011680"/>
          </a:xfrm>
          <a:prstGeom prst="roundRect">
            <a:avLst>
              <a:gd name="adj" fmla="val 4091"/>
            </a:avLst>
          </a:prstGeom>
          <a:solidFill>
            <a:srgbClr val="022B3A"/>
          </a:solidFill>
          <a:ln/>
        </p:spPr>
      </p:sp>
      <p:sp>
        <p:nvSpPr>
          <p:cNvPr id="13" name="Text 11"/>
          <p:cNvSpPr/>
          <p:nvPr/>
        </p:nvSpPr>
        <p:spPr>
          <a:xfrm>
            <a:off x="9203436" y="1764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IBM Cloud (Lite)</a:t>
            </a:r>
            <a:endParaRPr lang="en-US" sz="1350" dirty="0"/>
          </a:p>
        </p:txBody>
      </p:sp>
      <p:sp>
        <p:nvSpPr>
          <p:cNvPr id="14" name="Text 12"/>
          <p:cNvSpPr/>
          <p:nvPr/>
        </p:nvSpPr>
        <p:spPr>
          <a:xfrm>
            <a:off x="9203436" y="2286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Infrastructure to build, deploy &amp; scale the agent</a:t>
            </a:r>
            <a:endParaRPr lang="en-US" sz="1050" dirty="0"/>
          </a:p>
        </p:txBody>
      </p:sp>
      <p:sp>
        <p:nvSpPr>
          <p:cNvPr id="15" name="Shape 13"/>
          <p:cNvSpPr/>
          <p:nvPr/>
        </p:nvSpPr>
        <p:spPr>
          <a:xfrm>
            <a:off x="548640" y="3886200"/>
            <a:ext cx="2601468" cy="2011680"/>
          </a:xfrm>
          <a:prstGeom prst="roundRect">
            <a:avLst>
              <a:gd name="adj" fmla="val 4091"/>
            </a:avLst>
          </a:prstGeom>
          <a:solidFill>
            <a:srgbClr val="028090"/>
          </a:solidFill>
          <a:ln/>
        </p:spPr>
      </p:sp>
      <p:sp>
        <p:nvSpPr>
          <p:cNvPr id="16" name="Text 14"/>
          <p:cNvSpPr/>
          <p:nvPr/>
        </p:nvSpPr>
        <p:spPr>
          <a:xfrm>
            <a:off x="713232" y="4050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RAG Pipeline</a:t>
            </a:r>
            <a:endParaRPr lang="en-US" sz="1350" dirty="0"/>
          </a:p>
        </p:txBody>
      </p:sp>
      <p:sp>
        <p:nvSpPr>
          <p:cNvPr id="17" name="Text 15"/>
          <p:cNvSpPr/>
          <p:nvPr/>
        </p:nvSpPr>
        <p:spPr>
          <a:xfrm>
            <a:off x="713232" y="4572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Retrieves trusted data first, then generates grounded answers</a:t>
            </a:r>
            <a:endParaRPr lang="en-US" sz="1050" dirty="0"/>
          </a:p>
        </p:txBody>
      </p:sp>
      <p:sp>
        <p:nvSpPr>
          <p:cNvPr id="18" name="Shape 16"/>
          <p:cNvSpPr/>
          <p:nvPr/>
        </p:nvSpPr>
        <p:spPr>
          <a:xfrm>
            <a:off x="3378708" y="3886200"/>
            <a:ext cx="2601468" cy="2011680"/>
          </a:xfrm>
          <a:prstGeom prst="roundRect">
            <a:avLst>
              <a:gd name="adj" fmla="val 4091"/>
            </a:avLst>
          </a:prstGeom>
          <a:solidFill>
            <a:srgbClr val="028090"/>
          </a:solidFill>
          <a:ln/>
        </p:spPr>
      </p:sp>
      <p:sp>
        <p:nvSpPr>
          <p:cNvPr id="19" name="Text 17"/>
          <p:cNvSpPr/>
          <p:nvPr/>
        </p:nvSpPr>
        <p:spPr>
          <a:xfrm>
            <a:off x="3543300" y="4050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Vector Database</a:t>
            </a:r>
            <a:endParaRPr lang="en-US" sz="1350" dirty="0"/>
          </a:p>
        </p:txBody>
      </p:sp>
      <p:sp>
        <p:nvSpPr>
          <p:cNvPr id="20" name="Text 18"/>
          <p:cNvSpPr/>
          <p:nvPr/>
        </p:nvSpPr>
        <p:spPr>
          <a:xfrm>
            <a:off x="3543300" y="4572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FAISS / Chroma for nutrition-data retrieval</a:t>
            </a:r>
            <a:endParaRPr lang="en-US" sz="1050" dirty="0"/>
          </a:p>
        </p:txBody>
      </p:sp>
      <p:sp>
        <p:nvSpPr>
          <p:cNvPr id="21" name="Shape 19"/>
          <p:cNvSpPr/>
          <p:nvPr/>
        </p:nvSpPr>
        <p:spPr>
          <a:xfrm>
            <a:off x="6208776" y="3886200"/>
            <a:ext cx="2601468" cy="2011680"/>
          </a:xfrm>
          <a:prstGeom prst="roundRect">
            <a:avLst>
              <a:gd name="adj" fmla="val 4091"/>
            </a:avLst>
          </a:prstGeom>
          <a:solidFill>
            <a:srgbClr val="028090"/>
          </a:solidFill>
          <a:ln/>
        </p:spPr>
      </p:sp>
      <p:sp>
        <p:nvSpPr>
          <p:cNvPr id="22" name="Text 20"/>
          <p:cNvSpPr/>
          <p:nvPr/>
        </p:nvSpPr>
        <p:spPr>
          <a:xfrm>
            <a:off x="6373368" y="4050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Python</a:t>
            </a:r>
            <a:endParaRPr lang="en-US" sz="1350" dirty="0"/>
          </a:p>
        </p:txBody>
      </p:sp>
      <p:sp>
        <p:nvSpPr>
          <p:cNvPr id="23" name="Text 21"/>
          <p:cNvSpPr/>
          <p:nvPr/>
        </p:nvSpPr>
        <p:spPr>
          <a:xfrm>
            <a:off x="6373368" y="4572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Agent logic, data processing, RAG pipeline</a:t>
            </a:r>
            <a:endParaRPr lang="en-US" sz="1050" dirty="0"/>
          </a:p>
        </p:txBody>
      </p:sp>
      <p:sp>
        <p:nvSpPr>
          <p:cNvPr id="24" name="Shape 22"/>
          <p:cNvSpPr/>
          <p:nvPr/>
        </p:nvSpPr>
        <p:spPr>
          <a:xfrm>
            <a:off x="9038844" y="3886200"/>
            <a:ext cx="2601468" cy="2011680"/>
          </a:xfrm>
          <a:prstGeom prst="roundRect">
            <a:avLst>
              <a:gd name="adj" fmla="val 4091"/>
            </a:avLst>
          </a:prstGeom>
          <a:solidFill>
            <a:srgbClr val="028090"/>
          </a:solidFill>
          <a:ln/>
        </p:spPr>
      </p:sp>
      <p:sp>
        <p:nvSpPr>
          <p:cNvPr id="25" name="Text 23"/>
          <p:cNvSpPr/>
          <p:nvPr/>
        </p:nvSpPr>
        <p:spPr>
          <a:xfrm>
            <a:off x="9203436" y="4050792"/>
            <a:ext cx="2272284" cy="502920"/>
          </a:xfrm>
          <a:prstGeom prst="rect">
            <a:avLst/>
          </a:prstGeom>
          <a:noFill/>
          <a:ln/>
        </p:spPr>
        <p:txBody>
          <a:bodyPr wrap="square" rtlCol="0" anchor="t"/>
          <a:lstStyle/>
          <a:p>
            <a:pPr indent="0" marL="0">
              <a:buNone/>
            </a:pPr>
            <a:r>
              <a:rPr lang="en-US" sz="1350" b="1" dirty="0">
                <a:solidFill>
                  <a:srgbClr val="02C39A"/>
                </a:solidFill>
                <a:latin typeface="Arial" pitchFamily="34" charset="0"/>
                <a:ea typeface="Arial" pitchFamily="34" charset="-122"/>
                <a:cs typeface="Arial" pitchFamily="34" charset="-120"/>
              </a:rPr>
              <a:t>Streamlit / React</a:t>
            </a:r>
            <a:endParaRPr lang="en-US" sz="1350" dirty="0"/>
          </a:p>
        </p:txBody>
      </p:sp>
      <p:sp>
        <p:nvSpPr>
          <p:cNvPr id="26" name="Text 24"/>
          <p:cNvSpPr/>
          <p:nvPr/>
        </p:nvSpPr>
        <p:spPr>
          <a:xfrm>
            <a:off x="9203436" y="4572000"/>
            <a:ext cx="2272284" cy="1234440"/>
          </a:xfrm>
          <a:prstGeom prst="rect">
            <a:avLst/>
          </a:prstGeom>
          <a:noFill/>
          <a:ln/>
        </p:spPr>
        <p:txBody>
          <a:bodyPr wrap="square"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Nutrition dashboard &amp; chat interface</a:t>
            </a:r>
            <a:endParaRPr lang="en-US" sz="1050" dirty="0"/>
          </a:p>
        </p:txBody>
      </p:sp>
      <p:sp>
        <p:nvSpPr>
          <p:cNvPr id="27" name="Text 25"/>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Required Files</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Project repository structure prepared for IBM Bob / GitHub submission</a:t>
            </a:r>
            <a:endParaRPr lang="en-US" sz="1500" dirty="0"/>
          </a:p>
        </p:txBody>
      </p:sp>
      <p:pic>
        <p:nvPicPr>
          <p:cNvPr id="4" name="Image 0" descr="/home/claude/assets/folder_structure.png">    </p:cNvPr>
          <p:cNvPicPr>
            <a:picLocks noChangeAspect="1"/>
          </p:cNvPicPr>
          <p:nvPr/>
        </p:nvPicPr>
        <p:blipFill>
          <a:blip r:embed="rId1"/>
          <a:stretch>
            <a:fillRect/>
          </a:stretch>
        </p:blipFill>
        <p:spPr>
          <a:xfrm>
            <a:off x="2651760" y="1417320"/>
            <a:ext cx="6858000" cy="403098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IBM Bob — Development Workflow Evidence</a:t>
            </a:r>
            <a:endParaRPr lang="en-US" sz="2800" dirty="0"/>
          </a:p>
        </p:txBody>
      </p:sp>
      <p:pic>
        <p:nvPicPr>
          <p:cNvPr id="3" name="Image 0" descr="/home/claude/assets/placeholder_bob1.png">    </p:cNvPr>
          <p:cNvPicPr>
            <a:picLocks noChangeAspect="1"/>
          </p:cNvPicPr>
          <p:nvPr/>
        </p:nvPicPr>
        <p:blipFill>
          <a:blip r:embed="rId1"/>
          <a:stretch>
            <a:fillRect/>
          </a:stretch>
        </p:blipFill>
        <p:spPr>
          <a:xfrm>
            <a:off x="1737360" y="1508760"/>
            <a:ext cx="8686800" cy="2721864"/>
          </a:xfrm>
          <a:prstGeom prst="rect">
            <a:avLst/>
          </a:prstGeom>
        </p:spPr>
      </p:pic>
      <p:sp>
        <p:nvSpPr>
          <p:cNvPr id="4" name="Text 1"/>
          <p:cNvSpPr/>
          <p:nvPr/>
        </p:nvSpPr>
        <p:spPr>
          <a:xfrm>
            <a:off x="1737360" y="5394960"/>
            <a:ext cx="8686800" cy="731520"/>
          </a:xfrm>
          <a:prstGeom prst="rect">
            <a:avLst/>
          </a:prstGeom>
          <a:noFill/>
          <a:ln/>
        </p:spPr>
        <p:txBody>
          <a:bodyPr wrap="square" rtlCol="0" anchor="ctr"/>
          <a:lstStyle/>
          <a:p>
            <a:pPr algn="ctr" indent="0" marL="0">
              <a:buNone/>
            </a:pPr>
            <a:r>
              <a:rPr lang="en-US" sz="1250" i="1" dirty="0">
                <a:solidFill>
                  <a:srgbClr val="6E7880"/>
                </a:solidFill>
                <a:latin typeface="Arial" pitchFamily="34" charset="0"/>
                <a:ea typeface="Arial" pitchFamily="34" charset="-122"/>
                <a:cs typeface="Arial" pitchFamily="34" charset="-120"/>
              </a:rPr>
              <a:t>Insert: project workspace, agent configuration screens, files panel, and prompt history captured from the student's own IBM Bob session.</a:t>
            </a:r>
            <a:endParaRPr lang="en-US" sz="1250" dirty="0"/>
          </a:p>
        </p:txBody>
      </p:sp>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IBM Bob — Architecture Blueprint View</a:t>
            </a:r>
            <a:endParaRPr lang="en-US" sz="2800" dirty="0"/>
          </a:p>
        </p:txBody>
      </p:sp>
      <p:pic>
        <p:nvPicPr>
          <p:cNvPr id="3" name="Image 0" descr="/home/claude/assets/placeholder_bob2.png">    </p:cNvPr>
          <p:cNvPicPr>
            <a:picLocks noChangeAspect="1"/>
          </p:cNvPicPr>
          <p:nvPr/>
        </p:nvPicPr>
        <p:blipFill>
          <a:blip r:embed="rId1"/>
          <a:stretch>
            <a:fillRect/>
          </a:stretch>
        </p:blipFill>
        <p:spPr>
          <a:xfrm>
            <a:off x="1737360" y="1508760"/>
            <a:ext cx="8686800" cy="2721864"/>
          </a:xfrm>
          <a:prstGeom prst="rect">
            <a:avLst/>
          </a:prstGeom>
        </p:spPr>
      </p:pic>
      <p:sp>
        <p:nvSpPr>
          <p:cNvPr id="4" name="Text 1"/>
          <p:cNvSpPr/>
          <p:nvPr/>
        </p:nvSpPr>
        <p:spPr>
          <a:xfrm>
            <a:off x="1737360" y="5394960"/>
            <a:ext cx="8686800" cy="731520"/>
          </a:xfrm>
          <a:prstGeom prst="rect">
            <a:avLst/>
          </a:prstGeom>
          <a:noFill/>
          <a:ln/>
        </p:spPr>
        <p:txBody>
          <a:bodyPr wrap="square" rtlCol="0" anchor="ctr"/>
          <a:lstStyle/>
          <a:p>
            <a:pPr algn="ctr" indent="0" marL="0">
              <a:buNone/>
            </a:pPr>
            <a:r>
              <a:rPr lang="en-US" sz="1250" i="1" dirty="0">
                <a:solidFill>
                  <a:srgbClr val="6E7880"/>
                </a:solidFill>
                <a:latin typeface="Arial" pitchFamily="34" charset="0"/>
                <a:ea typeface="Arial" pitchFamily="34" charset="-122"/>
                <a:cs typeface="Arial" pitchFamily="34" charset="-120"/>
              </a:rPr>
              <a:t>Insert: the multi-agent blueprint / canvas view as rendered inside IBM Bob for this project.</a:t>
            </a:r>
            <a:endParaRPr lang="en-US" sz="1250" dirty="0"/>
          </a:p>
        </p:txBody>
      </p:sp>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Role of Agentic AI in the Solution</a:t>
            </a:r>
            <a:endParaRPr lang="en-US" sz="2800" dirty="0"/>
          </a:p>
        </p:txBody>
      </p:sp>
      <p:sp>
        <p:nvSpPr>
          <p:cNvPr id="3" name="Text 1"/>
          <p:cNvSpPr/>
          <p:nvPr/>
        </p:nvSpPr>
        <p:spPr>
          <a:xfrm>
            <a:off x="548640" y="1508760"/>
            <a:ext cx="5760720" cy="1828800"/>
          </a:xfrm>
          <a:prstGeom prst="rect">
            <a:avLst/>
          </a:prstGeom>
          <a:noFill/>
          <a:ln/>
        </p:spPr>
        <p:txBody>
          <a:bodyPr wrap="square" rtlCol="0" anchor="t"/>
          <a:lstStyle/>
          <a:p>
            <a:pPr indent="0" marL="0">
              <a:lnSpc>
                <a:spcPct val="120000"/>
              </a:lnSpc>
              <a:buNone/>
            </a:pPr>
            <a:r>
              <a:rPr lang="en-US" sz="1400" dirty="0">
                <a:solidFill>
                  <a:srgbClr val="282A2E"/>
                </a:solidFill>
                <a:latin typeface="Arial" pitchFamily="34" charset="0"/>
                <a:ea typeface="Arial" pitchFamily="34" charset="-122"/>
                <a:cs typeface="Arial" pitchFamily="34" charset="-120"/>
              </a:rPr>
              <a:t>Agentic AI lets the Nutrition Agent behave as an intelligent, autonomous system rather than a single-turn chatbot. Powered by IBM watsonx.ai and IBM Granite models, it coordinates multiple specialized agents — each responsible for one part of the nutrition journey — while IBM Bob manages hand-offs between them.</a:t>
            </a:r>
            <a:endParaRPr lang="en-US" sz="1400" dirty="0"/>
          </a:p>
        </p:txBody>
      </p:sp>
      <p:sp>
        <p:nvSpPr>
          <p:cNvPr id="4" name="Text 2"/>
          <p:cNvSpPr/>
          <p:nvPr/>
        </p:nvSpPr>
        <p:spPr>
          <a:xfrm>
            <a:off x="548640" y="3429000"/>
            <a:ext cx="5760720" cy="2560320"/>
          </a:xfrm>
          <a:prstGeom prst="rect">
            <a:avLst/>
          </a:prstGeom>
          <a:noFill/>
          <a:ln/>
        </p:spPr>
        <p:txBody>
          <a:bodyPr wrap="square" rtlCol="0" anchor="t"/>
          <a:lstStyle/>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Context-awareness: understands age, health conditions and goals</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Real-time adaptation: updates guidance as new meals are logged</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Inter-agent communication: agents hand off context, not just text</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Goal-driven behaviour: proactively tracks progress, not just replies</a:t>
            </a:r>
            <a:endParaRPr lang="en-US" sz="1500" dirty="0"/>
          </a:p>
        </p:txBody>
      </p:sp>
      <p:sp>
        <p:nvSpPr>
          <p:cNvPr id="5" name="Shape 3"/>
          <p:cNvSpPr/>
          <p:nvPr/>
        </p:nvSpPr>
        <p:spPr>
          <a:xfrm>
            <a:off x="6583680" y="1508760"/>
            <a:ext cx="5074920" cy="4617720"/>
          </a:xfrm>
          <a:prstGeom prst="roundRect">
            <a:avLst>
              <a:gd name="adj" fmla="val 1980"/>
            </a:avLst>
          </a:prstGeom>
          <a:solidFill>
            <a:srgbClr val="022B3A"/>
          </a:solidFill>
          <a:ln/>
        </p:spPr>
      </p:sp>
      <p:sp>
        <p:nvSpPr>
          <p:cNvPr id="6" name="Text 4"/>
          <p:cNvSpPr/>
          <p:nvPr/>
        </p:nvSpPr>
        <p:spPr>
          <a:xfrm>
            <a:off x="6858000" y="1737360"/>
            <a:ext cx="4572000" cy="365760"/>
          </a:xfrm>
          <a:prstGeom prst="rect">
            <a:avLst/>
          </a:prstGeom>
          <a:noFill/>
          <a:ln/>
        </p:spPr>
        <p:txBody>
          <a:bodyPr wrap="square" rtlCol="0" anchor="ctr"/>
          <a:lstStyle/>
          <a:p>
            <a:pPr indent="0" marL="0">
              <a:buNone/>
            </a:pPr>
            <a:r>
              <a:rPr lang="en-US" sz="1500" b="1" dirty="0">
                <a:solidFill>
                  <a:srgbClr val="02C39A"/>
                </a:solidFill>
                <a:latin typeface="Arial" pitchFamily="34" charset="0"/>
                <a:ea typeface="Arial" pitchFamily="34" charset="-122"/>
                <a:cs typeface="Arial" pitchFamily="34" charset="-120"/>
              </a:rPr>
              <a:t>Chatbot vs. Agentic AI</a:t>
            </a:r>
            <a:endParaRPr lang="en-US" sz="1500" dirty="0"/>
          </a:p>
        </p:txBody>
      </p:sp>
      <p:sp>
        <p:nvSpPr>
          <p:cNvPr id="7" name="Text 5"/>
          <p:cNvSpPr/>
          <p:nvPr/>
        </p:nvSpPr>
        <p:spPr>
          <a:xfrm>
            <a:off x="6858000" y="2286000"/>
            <a:ext cx="448056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Simple Chatbot</a:t>
            </a:r>
            <a:endParaRPr lang="en-US" sz="1300" dirty="0"/>
          </a:p>
        </p:txBody>
      </p:sp>
      <p:sp>
        <p:nvSpPr>
          <p:cNvPr id="8" name="Text 6"/>
          <p:cNvSpPr/>
          <p:nvPr/>
        </p:nvSpPr>
        <p:spPr>
          <a:xfrm>
            <a:off x="6858000" y="2651760"/>
            <a:ext cx="4480560" cy="822960"/>
          </a:xfrm>
          <a:prstGeom prst="rect">
            <a:avLst/>
          </a:prstGeom>
          <a:noFill/>
          <a:ln/>
        </p:spPr>
        <p:txBody>
          <a:bodyPr wrap="square" rtlCol="0" anchor="t"/>
          <a:lstStyle/>
          <a:p>
            <a:pPr indent="0" marL="0">
              <a:lnSpc>
                <a:spcPct val="115000"/>
              </a:lnSpc>
              <a:buNone/>
            </a:pPr>
            <a:r>
              <a:rPr lang="en-US" sz="1150" dirty="0">
                <a:solidFill>
                  <a:srgbClr val="CADCFC"/>
                </a:solidFill>
                <a:latin typeface="Arial" pitchFamily="34" charset="0"/>
                <a:ea typeface="Arial" pitchFamily="34" charset="-122"/>
                <a:cs typeface="Arial" pitchFamily="34" charset="-120"/>
              </a:rPr>
              <a:t>Single response per prompt, no memory of goals</a:t>
            </a:r>
            <a:endParaRPr lang="en-US" sz="1150" dirty="0"/>
          </a:p>
        </p:txBody>
      </p:sp>
      <p:sp>
        <p:nvSpPr>
          <p:cNvPr id="9" name="Text 7"/>
          <p:cNvSpPr/>
          <p:nvPr/>
        </p:nvSpPr>
        <p:spPr>
          <a:xfrm>
            <a:off x="6858000" y="3657600"/>
            <a:ext cx="448056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Agentic Nutrition System</a:t>
            </a:r>
            <a:endParaRPr lang="en-US" sz="1300" dirty="0"/>
          </a:p>
        </p:txBody>
      </p:sp>
      <p:sp>
        <p:nvSpPr>
          <p:cNvPr id="10" name="Text 8"/>
          <p:cNvSpPr/>
          <p:nvPr/>
        </p:nvSpPr>
        <p:spPr>
          <a:xfrm>
            <a:off x="6858000" y="4023360"/>
            <a:ext cx="4480560" cy="822960"/>
          </a:xfrm>
          <a:prstGeom prst="rect">
            <a:avLst/>
          </a:prstGeom>
          <a:noFill/>
          <a:ln/>
        </p:spPr>
        <p:txBody>
          <a:bodyPr wrap="square" rtlCol="0" anchor="t"/>
          <a:lstStyle/>
          <a:p>
            <a:pPr indent="0" marL="0">
              <a:lnSpc>
                <a:spcPct val="115000"/>
              </a:lnSpc>
              <a:buNone/>
            </a:pPr>
            <a:r>
              <a:rPr lang="en-US" sz="1150" dirty="0">
                <a:solidFill>
                  <a:srgbClr val="CADCFC"/>
                </a:solidFill>
                <a:latin typeface="Arial" pitchFamily="34" charset="0"/>
                <a:ea typeface="Arial" pitchFamily="34" charset="-122"/>
                <a:cs typeface="Arial" pitchFamily="34" charset="-120"/>
              </a:rPr>
              <a:t>Multiple agents collaborate, retain context, and act toward a health goal over time</a:t>
            </a:r>
            <a:endParaRPr lang="en-US" sz="1150" dirty="0"/>
          </a:p>
        </p:txBody>
      </p:sp>
      <p:sp>
        <p:nvSpPr>
          <p:cNvPr id="11" name="Text 9"/>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Multi-Agent Workflow</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Conceptual sequence — how a single user request flows through the system</a:t>
            </a:r>
            <a:endParaRPr lang="en-US" sz="1500" dirty="0"/>
          </a:p>
        </p:txBody>
      </p:sp>
      <p:pic>
        <p:nvPicPr>
          <p:cNvPr id="4" name="Image 0" descr="/home/claude/assets/workflow.png">    </p:cNvPr>
          <p:cNvPicPr>
            <a:picLocks noChangeAspect="1"/>
          </p:cNvPicPr>
          <p:nvPr/>
        </p:nvPicPr>
        <p:blipFill>
          <a:blip r:embed="rId1"/>
          <a:stretch>
            <a:fillRect/>
          </a:stretch>
        </p:blipFill>
        <p:spPr>
          <a:xfrm>
            <a:off x="2929245" y="1417320"/>
            <a:ext cx="6330462" cy="489204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Token Usage</a:t>
            </a:r>
            <a:endParaRPr lang="en-US" sz="2800" dirty="0"/>
          </a:p>
        </p:txBody>
      </p:sp>
      <p:pic>
        <p:nvPicPr>
          <p:cNvPr id="3" name="Image 0" descr="/home/claude/assets/placeholder_token.png">    </p:cNvPr>
          <p:cNvPicPr>
            <a:picLocks noChangeAspect="1"/>
          </p:cNvPicPr>
          <p:nvPr/>
        </p:nvPicPr>
        <p:blipFill>
          <a:blip r:embed="rId1"/>
          <a:stretch>
            <a:fillRect/>
          </a:stretch>
        </p:blipFill>
        <p:spPr>
          <a:xfrm>
            <a:off x="2651760" y="1463040"/>
            <a:ext cx="6858000" cy="2148840"/>
          </a:xfrm>
          <a:prstGeom prst="rect">
            <a:avLst/>
          </a:prstGeom>
        </p:spPr>
      </p:pic>
      <p:sp>
        <p:nvSpPr>
          <p:cNvPr id="4" name="Text 1"/>
          <p:cNvSpPr/>
          <p:nvPr/>
        </p:nvSpPr>
        <p:spPr>
          <a:xfrm>
            <a:off x="1463040" y="5394960"/>
            <a:ext cx="9235440" cy="822960"/>
          </a:xfrm>
          <a:prstGeom prst="rect">
            <a:avLst/>
          </a:prstGeom>
          <a:noFill/>
          <a:ln/>
        </p:spPr>
        <p:txBody>
          <a:bodyPr wrap="square" rtlCol="0" anchor="ctr"/>
          <a:lstStyle/>
          <a:p>
            <a:pPr algn="ctr" indent="0" marL="0">
              <a:buNone/>
            </a:pPr>
            <a:r>
              <a:rPr lang="en-US" sz="1250" i="1" dirty="0">
                <a:solidFill>
                  <a:srgbClr val="6E7880"/>
                </a:solidFill>
                <a:latin typeface="Arial" pitchFamily="34" charset="0"/>
                <a:ea typeface="Arial" pitchFamily="34" charset="-122"/>
                <a:cs typeface="Arial" pitchFamily="34" charset="-120"/>
              </a:rPr>
              <a:t>Academic-honesty note: token-usage figures are reported only when genuinely available from the IBM Bob / watsonx.ai session. No token counts are invented for this submission.</a:t>
            </a:r>
            <a:endParaRPr lang="en-US" sz="1250" dirty="0"/>
          </a:p>
        </p:txBody>
      </p:sp>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Before Prompt</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interface — initial state</a:t>
            </a:r>
            <a:endParaRPr lang="en-US" sz="1500" dirty="0"/>
          </a:p>
        </p:txBody>
      </p:sp>
      <p:pic>
        <p:nvPicPr>
          <p:cNvPr id="4" name="Image 0" descr="/home/claude/assets/before_prompt.png">    </p:cNvPr>
          <p:cNvPicPr>
            <a:picLocks noChangeAspect="1"/>
          </p:cNvPicPr>
          <p:nvPr/>
        </p:nvPicPr>
        <p:blipFill>
          <a:blip r:embed="rId1"/>
          <a:stretch>
            <a:fillRect/>
          </a:stretch>
        </p:blipFill>
        <p:spPr>
          <a:xfrm>
            <a:off x="1737360" y="1463040"/>
            <a:ext cx="8686800" cy="4169664"/>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After Prompt</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interface — after the agent responds</a:t>
            </a:r>
            <a:endParaRPr lang="en-US" sz="1500" dirty="0"/>
          </a:p>
        </p:txBody>
      </p:sp>
      <p:pic>
        <p:nvPicPr>
          <p:cNvPr id="4" name="Image 0" descr="/home/claude/assets/after_prompt.png">    </p:cNvPr>
          <p:cNvPicPr>
            <a:picLocks noChangeAspect="1"/>
          </p:cNvPicPr>
          <p:nvPr/>
        </p:nvPicPr>
        <p:blipFill>
          <a:blip r:embed="rId1"/>
          <a:stretch>
            <a:fillRect/>
          </a:stretch>
        </p:blipFill>
        <p:spPr>
          <a:xfrm>
            <a:off x="1737360" y="1463040"/>
            <a:ext cx="8686800" cy="4169664"/>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Project Output — Prompt 1</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output (conceptual UI, not a live IBM Bob capture)</a:t>
            </a:r>
            <a:endParaRPr lang="en-US" sz="1500" dirty="0"/>
          </a:p>
        </p:txBody>
      </p:sp>
      <p:pic>
        <p:nvPicPr>
          <p:cNvPr id="4" name="Image 0" descr="/home/claude/assets/ui_output1.png">    </p:cNvPr>
          <p:cNvPicPr>
            <a:picLocks noChangeAspect="1"/>
          </p:cNvPicPr>
          <p:nvPr/>
        </p:nvPicPr>
        <p:blipFill>
          <a:blip r:embed="rId1"/>
          <a:stretch>
            <a:fillRect/>
          </a:stretch>
        </p:blipFill>
        <p:spPr>
          <a:xfrm>
            <a:off x="1385316" y="1417320"/>
            <a:ext cx="9418320" cy="5180076"/>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Project Output — Prompt 2</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output (conceptual UI, not a live IBM Bob capture)</a:t>
            </a:r>
            <a:endParaRPr lang="en-US" sz="1500" dirty="0"/>
          </a:p>
        </p:txBody>
      </p:sp>
      <p:pic>
        <p:nvPicPr>
          <p:cNvPr id="4" name="Image 0" descr="/home/claude/assets/ui_output2.png">    </p:cNvPr>
          <p:cNvPicPr>
            <a:picLocks noChangeAspect="1"/>
          </p:cNvPicPr>
          <p:nvPr/>
        </p:nvPicPr>
        <p:blipFill>
          <a:blip r:embed="rId1"/>
          <a:stretch>
            <a:fillRect/>
          </a:stretch>
        </p:blipFill>
        <p:spPr>
          <a:xfrm>
            <a:off x="1385316" y="1417320"/>
            <a:ext cx="9418320" cy="4673841"/>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Project Output — Prompt 3</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output (conceptual UI, not a live IBM Bob capture)</a:t>
            </a:r>
            <a:endParaRPr lang="en-US" sz="1500" dirty="0"/>
          </a:p>
        </p:txBody>
      </p:sp>
      <p:pic>
        <p:nvPicPr>
          <p:cNvPr id="4" name="Image 0" descr="/home/claude/assets/ui_output3.png">    </p:cNvPr>
          <p:cNvPicPr>
            <a:picLocks noChangeAspect="1"/>
          </p:cNvPicPr>
          <p:nvPr/>
        </p:nvPicPr>
        <p:blipFill>
          <a:blip r:embed="rId1"/>
          <a:stretch>
            <a:fillRect/>
          </a:stretch>
        </p:blipFill>
        <p:spPr>
          <a:xfrm>
            <a:off x="1385316" y="1417320"/>
            <a:ext cx="9418320" cy="4850435"/>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Nutrition Dashboard Output</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Prototype demo dashboard — daily/weekly nutrition visualization</a:t>
            </a:r>
            <a:endParaRPr lang="en-US" sz="1500" dirty="0"/>
          </a:p>
        </p:txBody>
      </p:sp>
      <p:pic>
        <p:nvPicPr>
          <p:cNvPr id="4" name="Image 0" descr="/home/claude/assets/ui_dashboard.png">    </p:cNvPr>
          <p:cNvPicPr>
            <a:picLocks noChangeAspect="1"/>
          </p:cNvPicPr>
          <p:nvPr/>
        </p:nvPicPr>
        <p:blipFill>
          <a:blip r:embed="rId1"/>
          <a:stretch>
            <a:fillRect/>
          </a:stretch>
        </p:blipFill>
        <p:spPr>
          <a:xfrm>
            <a:off x="1248156" y="1417320"/>
            <a:ext cx="9692640" cy="605790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Novelty and Uniqueness</a:t>
            </a:r>
            <a:endParaRPr lang="en-US" sz="2800" dirty="0"/>
          </a:p>
        </p:txBody>
      </p:sp>
      <p:sp>
        <p:nvSpPr>
          <p:cNvPr id="3" name="Shape 1"/>
          <p:cNvSpPr/>
          <p:nvPr/>
        </p:nvSpPr>
        <p:spPr>
          <a:xfrm>
            <a:off x="548640" y="1554480"/>
            <a:ext cx="2601468" cy="2286000"/>
          </a:xfrm>
          <a:prstGeom prst="roundRect">
            <a:avLst>
              <a:gd name="adj" fmla="val 3600"/>
            </a:avLst>
          </a:prstGeom>
          <a:solidFill>
            <a:srgbClr val="028090"/>
          </a:solidFill>
          <a:ln/>
        </p:spPr>
      </p:sp>
      <p:sp>
        <p:nvSpPr>
          <p:cNvPr id="4" name="Text 2"/>
          <p:cNvSpPr/>
          <p:nvPr/>
        </p:nvSpPr>
        <p:spPr>
          <a:xfrm>
            <a:off x="694944" y="170078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Multi-Agent Intelligence</a:t>
            </a:r>
            <a:endParaRPr lang="en-US" sz="1250" dirty="0"/>
          </a:p>
        </p:txBody>
      </p:sp>
      <p:sp>
        <p:nvSpPr>
          <p:cNvPr id="5" name="Text 3"/>
          <p:cNvSpPr/>
          <p:nvPr/>
        </p:nvSpPr>
        <p:spPr>
          <a:xfrm>
            <a:off x="694944" y="242316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Specialized agents collaborate instead of one monolithic chatbot</a:t>
            </a:r>
            <a:endParaRPr lang="en-US" sz="1000" dirty="0"/>
          </a:p>
        </p:txBody>
      </p:sp>
      <p:sp>
        <p:nvSpPr>
          <p:cNvPr id="6" name="Shape 4"/>
          <p:cNvSpPr/>
          <p:nvPr/>
        </p:nvSpPr>
        <p:spPr>
          <a:xfrm>
            <a:off x="3378708" y="1554480"/>
            <a:ext cx="2601468" cy="2286000"/>
          </a:xfrm>
          <a:prstGeom prst="roundRect">
            <a:avLst>
              <a:gd name="adj" fmla="val 3600"/>
            </a:avLst>
          </a:prstGeom>
          <a:solidFill>
            <a:srgbClr val="00A896"/>
          </a:solidFill>
          <a:ln/>
        </p:spPr>
      </p:sp>
      <p:sp>
        <p:nvSpPr>
          <p:cNvPr id="7" name="Text 5"/>
          <p:cNvSpPr/>
          <p:nvPr/>
        </p:nvSpPr>
        <p:spPr>
          <a:xfrm>
            <a:off x="3525012" y="170078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RAG-Based Accuracy</a:t>
            </a:r>
            <a:endParaRPr lang="en-US" sz="1250" dirty="0"/>
          </a:p>
        </p:txBody>
      </p:sp>
      <p:sp>
        <p:nvSpPr>
          <p:cNvPr id="8" name="Text 6"/>
          <p:cNvSpPr/>
          <p:nvPr/>
        </p:nvSpPr>
        <p:spPr>
          <a:xfrm>
            <a:off x="3525012" y="242316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Grounds answers in real nutrition data, reducing misinformation</a:t>
            </a:r>
            <a:endParaRPr lang="en-US" sz="1000" dirty="0"/>
          </a:p>
        </p:txBody>
      </p:sp>
      <p:sp>
        <p:nvSpPr>
          <p:cNvPr id="9" name="Shape 7"/>
          <p:cNvSpPr/>
          <p:nvPr/>
        </p:nvSpPr>
        <p:spPr>
          <a:xfrm>
            <a:off x="6208776" y="1554480"/>
            <a:ext cx="2601468" cy="2286000"/>
          </a:xfrm>
          <a:prstGeom prst="roundRect">
            <a:avLst>
              <a:gd name="adj" fmla="val 3600"/>
            </a:avLst>
          </a:prstGeom>
          <a:solidFill>
            <a:srgbClr val="028090"/>
          </a:solidFill>
          <a:ln/>
        </p:spPr>
      </p:sp>
      <p:sp>
        <p:nvSpPr>
          <p:cNvPr id="10" name="Text 8"/>
          <p:cNvSpPr/>
          <p:nvPr/>
        </p:nvSpPr>
        <p:spPr>
          <a:xfrm>
            <a:off x="6355080" y="170078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Hyper-Personalization</a:t>
            </a:r>
            <a:endParaRPr lang="en-US" sz="1250" dirty="0"/>
          </a:p>
        </p:txBody>
      </p:sp>
      <p:sp>
        <p:nvSpPr>
          <p:cNvPr id="11" name="Text 9"/>
          <p:cNvSpPr/>
          <p:nvPr/>
        </p:nvSpPr>
        <p:spPr>
          <a:xfrm>
            <a:off x="6355080" y="242316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Tailors plans to health conditions, culture &amp; fitness goals</a:t>
            </a:r>
            <a:endParaRPr lang="en-US" sz="1000" dirty="0"/>
          </a:p>
        </p:txBody>
      </p:sp>
      <p:sp>
        <p:nvSpPr>
          <p:cNvPr id="12" name="Shape 10"/>
          <p:cNvSpPr/>
          <p:nvPr/>
        </p:nvSpPr>
        <p:spPr>
          <a:xfrm>
            <a:off x="9038844" y="1554480"/>
            <a:ext cx="2601468" cy="2286000"/>
          </a:xfrm>
          <a:prstGeom prst="roundRect">
            <a:avLst>
              <a:gd name="adj" fmla="val 3600"/>
            </a:avLst>
          </a:prstGeom>
          <a:solidFill>
            <a:srgbClr val="00A896"/>
          </a:solidFill>
          <a:ln/>
        </p:spPr>
      </p:sp>
      <p:sp>
        <p:nvSpPr>
          <p:cNvPr id="13" name="Text 11"/>
          <p:cNvSpPr/>
          <p:nvPr/>
        </p:nvSpPr>
        <p:spPr>
          <a:xfrm>
            <a:off x="9185148" y="170078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Real-Time Feedback Loop</a:t>
            </a:r>
            <a:endParaRPr lang="en-US" sz="1250" dirty="0"/>
          </a:p>
        </p:txBody>
      </p:sp>
      <p:sp>
        <p:nvSpPr>
          <p:cNvPr id="14" name="Text 12"/>
          <p:cNvSpPr/>
          <p:nvPr/>
        </p:nvSpPr>
        <p:spPr>
          <a:xfrm>
            <a:off x="9185148" y="242316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Continuously adapts as new food logs arrive</a:t>
            </a:r>
            <a:endParaRPr lang="en-US" sz="1000" dirty="0"/>
          </a:p>
        </p:txBody>
      </p:sp>
      <p:sp>
        <p:nvSpPr>
          <p:cNvPr id="15" name="Shape 13"/>
          <p:cNvSpPr/>
          <p:nvPr/>
        </p:nvSpPr>
        <p:spPr>
          <a:xfrm>
            <a:off x="548640" y="4114800"/>
            <a:ext cx="2601468" cy="2286000"/>
          </a:xfrm>
          <a:prstGeom prst="roundRect">
            <a:avLst>
              <a:gd name="adj" fmla="val 3600"/>
            </a:avLst>
          </a:prstGeom>
          <a:solidFill>
            <a:srgbClr val="028090"/>
          </a:solidFill>
          <a:ln/>
        </p:spPr>
      </p:sp>
      <p:sp>
        <p:nvSpPr>
          <p:cNvPr id="16" name="Text 14"/>
          <p:cNvSpPr/>
          <p:nvPr/>
        </p:nvSpPr>
        <p:spPr>
          <a:xfrm>
            <a:off x="694944" y="426110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Multimodal Input</a:t>
            </a:r>
            <a:endParaRPr lang="en-US" sz="1250" dirty="0"/>
          </a:p>
        </p:txBody>
      </p:sp>
      <p:sp>
        <p:nvSpPr>
          <p:cNvPr id="17" name="Text 15"/>
          <p:cNvSpPr/>
          <p:nvPr/>
        </p:nvSpPr>
        <p:spPr>
          <a:xfrm>
            <a:off x="694944" y="498348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Supports text, voice and image-based meal tracking</a:t>
            </a:r>
            <a:endParaRPr lang="en-US" sz="1000" dirty="0"/>
          </a:p>
        </p:txBody>
      </p:sp>
      <p:sp>
        <p:nvSpPr>
          <p:cNvPr id="18" name="Shape 16"/>
          <p:cNvSpPr/>
          <p:nvPr/>
        </p:nvSpPr>
        <p:spPr>
          <a:xfrm>
            <a:off x="3378708" y="4114800"/>
            <a:ext cx="2601468" cy="2286000"/>
          </a:xfrm>
          <a:prstGeom prst="roundRect">
            <a:avLst>
              <a:gd name="adj" fmla="val 3600"/>
            </a:avLst>
          </a:prstGeom>
          <a:solidFill>
            <a:srgbClr val="00A896"/>
          </a:solidFill>
          <a:ln/>
        </p:spPr>
      </p:sp>
      <p:sp>
        <p:nvSpPr>
          <p:cNvPr id="19" name="Text 17"/>
          <p:cNvSpPr/>
          <p:nvPr/>
        </p:nvSpPr>
        <p:spPr>
          <a:xfrm>
            <a:off x="3525012" y="426110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Preventive Healthcare Focus</a:t>
            </a:r>
            <a:endParaRPr lang="en-US" sz="1250" dirty="0"/>
          </a:p>
        </p:txBody>
      </p:sp>
      <p:sp>
        <p:nvSpPr>
          <p:cNvPr id="20" name="Text 18"/>
          <p:cNvSpPr/>
          <p:nvPr/>
        </p:nvSpPr>
        <p:spPr>
          <a:xfrm>
            <a:off x="3525012" y="498348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Goes beyond diet planning to disease-specific advice</a:t>
            </a:r>
            <a:endParaRPr lang="en-US" sz="1000" dirty="0"/>
          </a:p>
        </p:txBody>
      </p:sp>
      <p:sp>
        <p:nvSpPr>
          <p:cNvPr id="21" name="Shape 19"/>
          <p:cNvSpPr/>
          <p:nvPr/>
        </p:nvSpPr>
        <p:spPr>
          <a:xfrm>
            <a:off x="6208776" y="4114800"/>
            <a:ext cx="2601468" cy="2286000"/>
          </a:xfrm>
          <a:prstGeom prst="roundRect">
            <a:avLst>
              <a:gd name="adj" fmla="val 3600"/>
            </a:avLst>
          </a:prstGeom>
          <a:solidFill>
            <a:srgbClr val="028090"/>
          </a:solidFill>
          <a:ln/>
        </p:spPr>
      </p:sp>
      <p:sp>
        <p:nvSpPr>
          <p:cNvPr id="22" name="Text 20"/>
          <p:cNvSpPr/>
          <p:nvPr/>
        </p:nvSpPr>
        <p:spPr>
          <a:xfrm>
            <a:off x="6355080" y="4261104"/>
            <a:ext cx="2308860" cy="68580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Scalable &amp; Enterprise-Ready</a:t>
            </a:r>
            <a:endParaRPr lang="en-US" sz="1250" dirty="0"/>
          </a:p>
        </p:txBody>
      </p:sp>
      <p:sp>
        <p:nvSpPr>
          <p:cNvPr id="23" name="Text 21"/>
          <p:cNvSpPr/>
          <p:nvPr/>
        </p:nvSpPr>
        <p:spPr>
          <a:xfrm>
            <a:off x="6355080" y="4983480"/>
            <a:ext cx="2308860" cy="1280160"/>
          </a:xfrm>
          <a:prstGeom prst="rect">
            <a:avLst/>
          </a:prstGeom>
          <a:noFill/>
          <a:ln/>
        </p:spPr>
        <p:txBody>
          <a:bodyPr wrap="square" rtlCol="0" anchor="t"/>
          <a:lstStyle/>
          <a:p>
            <a:pPr indent="0" marL="0">
              <a:lnSpc>
                <a:spcPct val="115000"/>
              </a:lnSpc>
              <a:buNone/>
            </a:pPr>
            <a:r>
              <a:rPr lang="en-US" sz="1000" dirty="0">
                <a:solidFill>
                  <a:srgbClr val="F0FBF9"/>
                </a:solidFill>
                <a:latin typeface="Arial" pitchFamily="34" charset="0"/>
                <a:ea typeface="Arial" pitchFamily="34" charset="-122"/>
                <a:cs typeface="Arial" pitchFamily="34" charset="-120"/>
              </a:rPr>
              <a:t>Built on watsonx.ai and Granite for reliability &amp; governance</a:t>
            </a:r>
            <a:endParaRPr lang="en-US" sz="1000" dirty="0"/>
          </a:p>
        </p:txBody>
      </p:sp>
      <p:sp>
        <p:nvSpPr>
          <p:cNvPr id="24" name="Text 2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Project Impact</a:t>
            </a:r>
            <a:endParaRPr lang="en-US" sz="2800" dirty="0"/>
          </a:p>
        </p:txBody>
      </p:sp>
      <p:sp>
        <p:nvSpPr>
          <p:cNvPr id="3" name="Shape 1"/>
          <p:cNvSpPr/>
          <p:nvPr/>
        </p:nvSpPr>
        <p:spPr>
          <a:xfrm>
            <a:off x="548640" y="1691640"/>
            <a:ext cx="2567178" cy="4206240"/>
          </a:xfrm>
          <a:prstGeom prst="roundRect">
            <a:avLst>
              <a:gd name="adj" fmla="val 3562"/>
            </a:avLst>
          </a:prstGeom>
          <a:solidFill>
            <a:srgbClr val="F7F7F5"/>
          </a:solidFill>
          <a:ln w="15875">
            <a:solidFill>
              <a:srgbClr val="028090"/>
            </a:solidFill>
            <a:prstDash val="solid"/>
          </a:ln>
        </p:spPr>
      </p:sp>
      <p:sp>
        <p:nvSpPr>
          <p:cNvPr id="4" name="Shape 2"/>
          <p:cNvSpPr/>
          <p:nvPr/>
        </p:nvSpPr>
        <p:spPr>
          <a:xfrm>
            <a:off x="1512189" y="2011680"/>
            <a:ext cx="640080" cy="640080"/>
          </a:xfrm>
          <a:prstGeom prst="ellipse">
            <a:avLst/>
          </a:prstGeom>
          <a:solidFill>
            <a:srgbClr val="022B3A"/>
          </a:solidFill>
          <a:ln/>
        </p:spPr>
      </p:sp>
      <p:sp>
        <p:nvSpPr>
          <p:cNvPr id="5" name="Text 3"/>
          <p:cNvSpPr/>
          <p:nvPr/>
        </p:nvSpPr>
        <p:spPr>
          <a:xfrm>
            <a:off x="1512189" y="2011680"/>
            <a:ext cx="640080" cy="640080"/>
          </a:xfrm>
          <a:prstGeom prst="rect">
            <a:avLst/>
          </a:prstGeom>
          <a:noFill/>
          <a:ln/>
        </p:spPr>
        <p:txBody>
          <a:bodyPr wrap="square" rtlCol="0" anchor="ctr"/>
          <a:lstStyle/>
          <a:p>
            <a:pPr algn="ctr" indent="0" marL="0">
              <a:buNone/>
            </a:pPr>
            <a:r>
              <a:rPr lang="en-US" sz="2000" b="1" dirty="0">
                <a:solidFill>
                  <a:srgbClr val="02C39A"/>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685800" y="2834640"/>
            <a:ext cx="2292858" cy="548640"/>
          </a:xfrm>
          <a:prstGeom prst="rect">
            <a:avLst/>
          </a:prstGeom>
          <a:noFill/>
          <a:ln/>
        </p:spPr>
        <p:txBody>
          <a:bodyPr wrap="square" rtlCol="0" anchor="ctr"/>
          <a:lstStyle/>
          <a:p>
            <a:pPr algn="ctr" indent="0" marL="0">
              <a:buNone/>
            </a:pPr>
            <a:r>
              <a:rPr lang="en-US" sz="1350" b="1" dirty="0">
                <a:solidFill>
                  <a:srgbClr val="022B3A"/>
                </a:solidFill>
                <a:latin typeface="Arial" pitchFamily="34" charset="0"/>
                <a:ea typeface="Arial" pitchFamily="34" charset="-122"/>
                <a:cs typeface="Arial" pitchFamily="34" charset="-120"/>
              </a:rPr>
              <a:t>Individuals</a:t>
            </a:r>
            <a:endParaRPr lang="en-US" sz="1350" dirty="0"/>
          </a:p>
        </p:txBody>
      </p:sp>
      <p:sp>
        <p:nvSpPr>
          <p:cNvPr id="7" name="Text 5"/>
          <p:cNvSpPr/>
          <p:nvPr/>
        </p:nvSpPr>
        <p:spPr>
          <a:xfrm>
            <a:off x="685800" y="3429000"/>
            <a:ext cx="2292858" cy="2286000"/>
          </a:xfrm>
          <a:prstGeom prst="rect">
            <a:avLst/>
          </a:prstGeom>
          <a:noFill/>
          <a:ln/>
        </p:spPr>
        <p:txBody>
          <a:bodyPr wrap="square" rtlCol="0" anchor="t"/>
          <a:lstStyle/>
          <a:p>
            <a:pPr algn="ctr" indent="0" marL="0">
              <a:lnSpc>
                <a:spcPct val="120000"/>
              </a:lnSpc>
              <a:buNone/>
            </a:pPr>
            <a:r>
              <a:rPr lang="en-US" sz="1100" dirty="0">
                <a:solidFill>
                  <a:srgbClr val="282A2E"/>
                </a:solidFill>
                <a:latin typeface="Arial" pitchFamily="34" charset="0"/>
                <a:ea typeface="Arial" pitchFamily="34" charset="-122"/>
                <a:cs typeface="Arial" pitchFamily="34" charset="-120"/>
              </a:rPr>
              <a:t>Everyday, judgement-free access to personalized nutrition guidance</a:t>
            </a:r>
            <a:endParaRPr lang="en-US" sz="1100" dirty="0"/>
          </a:p>
        </p:txBody>
      </p:sp>
      <p:sp>
        <p:nvSpPr>
          <p:cNvPr id="8" name="Shape 6"/>
          <p:cNvSpPr/>
          <p:nvPr/>
        </p:nvSpPr>
        <p:spPr>
          <a:xfrm>
            <a:off x="3390138" y="1691640"/>
            <a:ext cx="2567178" cy="4206240"/>
          </a:xfrm>
          <a:prstGeom prst="roundRect">
            <a:avLst>
              <a:gd name="adj" fmla="val 3562"/>
            </a:avLst>
          </a:prstGeom>
          <a:solidFill>
            <a:srgbClr val="F7F7F5"/>
          </a:solidFill>
          <a:ln w="15875">
            <a:solidFill>
              <a:srgbClr val="028090"/>
            </a:solidFill>
            <a:prstDash val="solid"/>
          </a:ln>
        </p:spPr>
      </p:sp>
      <p:sp>
        <p:nvSpPr>
          <p:cNvPr id="9" name="Shape 7"/>
          <p:cNvSpPr/>
          <p:nvPr/>
        </p:nvSpPr>
        <p:spPr>
          <a:xfrm>
            <a:off x="4353687" y="2011680"/>
            <a:ext cx="640080" cy="640080"/>
          </a:xfrm>
          <a:prstGeom prst="ellipse">
            <a:avLst/>
          </a:prstGeom>
          <a:solidFill>
            <a:srgbClr val="022B3A"/>
          </a:solidFill>
          <a:ln/>
        </p:spPr>
      </p:sp>
      <p:sp>
        <p:nvSpPr>
          <p:cNvPr id="10" name="Text 8"/>
          <p:cNvSpPr/>
          <p:nvPr/>
        </p:nvSpPr>
        <p:spPr>
          <a:xfrm>
            <a:off x="4353687" y="2011680"/>
            <a:ext cx="640080" cy="640080"/>
          </a:xfrm>
          <a:prstGeom prst="rect">
            <a:avLst/>
          </a:prstGeom>
          <a:noFill/>
          <a:ln/>
        </p:spPr>
        <p:txBody>
          <a:bodyPr wrap="square" rtlCol="0" anchor="ctr"/>
          <a:lstStyle/>
          <a:p>
            <a:pPr algn="ctr" indent="0" marL="0">
              <a:buNone/>
            </a:pPr>
            <a:r>
              <a:rPr lang="en-US" sz="2000" b="1" dirty="0">
                <a:solidFill>
                  <a:srgbClr val="02C39A"/>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3527298" y="2834640"/>
            <a:ext cx="2292858" cy="548640"/>
          </a:xfrm>
          <a:prstGeom prst="rect">
            <a:avLst/>
          </a:prstGeom>
          <a:noFill/>
          <a:ln/>
        </p:spPr>
        <p:txBody>
          <a:bodyPr wrap="square" rtlCol="0" anchor="ctr"/>
          <a:lstStyle/>
          <a:p>
            <a:pPr algn="ctr" indent="0" marL="0">
              <a:buNone/>
            </a:pPr>
            <a:r>
              <a:rPr lang="en-US" sz="1350" b="1" dirty="0">
                <a:solidFill>
                  <a:srgbClr val="022B3A"/>
                </a:solidFill>
                <a:latin typeface="Arial" pitchFamily="34" charset="0"/>
                <a:ea typeface="Arial" pitchFamily="34" charset="-122"/>
                <a:cs typeface="Arial" pitchFamily="34" charset="-120"/>
              </a:rPr>
              <a:t>Families</a:t>
            </a:r>
            <a:endParaRPr lang="en-US" sz="1350" dirty="0"/>
          </a:p>
        </p:txBody>
      </p:sp>
      <p:sp>
        <p:nvSpPr>
          <p:cNvPr id="12" name="Text 10"/>
          <p:cNvSpPr/>
          <p:nvPr/>
        </p:nvSpPr>
        <p:spPr>
          <a:xfrm>
            <a:off x="3527298" y="3429000"/>
            <a:ext cx="2292858" cy="2286000"/>
          </a:xfrm>
          <a:prstGeom prst="rect">
            <a:avLst/>
          </a:prstGeom>
          <a:noFill/>
          <a:ln/>
        </p:spPr>
        <p:txBody>
          <a:bodyPr wrap="square" rtlCol="0" anchor="t"/>
          <a:lstStyle/>
          <a:p>
            <a:pPr algn="ctr" indent="0" marL="0">
              <a:lnSpc>
                <a:spcPct val="120000"/>
              </a:lnSpc>
              <a:buNone/>
            </a:pPr>
            <a:r>
              <a:rPr lang="en-US" sz="1100" dirty="0">
                <a:solidFill>
                  <a:srgbClr val="282A2E"/>
                </a:solidFill>
                <a:latin typeface="Arial" pitchFamily="34" charset="0"/>
                <a:ea typeface="Arial" pitchFamily="34" charset="-122"/>
                <a:cs typeface="Arial" pitchFamily="34" charset="-120"/>
              </a:rPr>
              <a:t>Shared meal planning that accounts for each member's needs</a:t>
            </a:r>
            <a:endParaRPr lang="en-US" sz="1100" dirty="0"/>
          </a:p>
        </p:txBody>
      </p:sp>
      <p:sp>
        <p:nvSpPr>
          <p:cNvPr id="13" name="Shape 11"/>
          <p:cNvSpPr/>
          <p:nvPr/>
        </p:nvSpPr>
        <p:spPr>
          <a:xfrm>
            <a:off x="6231636" y="1691640"/>
            <a:ext cx="2567178" cy="4206240"/>
          </a:xfrm>
          <a:prstGeom prst="roundRect">
            <a:avLst>
              <a:gd name="adj" fmla="val 3562"/>
            </a:avLst>
          </a:prstGeom>
          <a:solidFill>
            <a:srgbClr val="F7F7F5"/>
          </a:solidFill>
          <a:ln w="15875">
            <a:solidFill>
              <a:srgbClr val="028090"/>
            </a:solidFill>
            <a:prstDash val="solid"/>
          </a:ln>
        </p:spPr>
      </p:sp>
      <p:sp>
        <p:nvSpPr>
          <p:cNvPr id="14" name="Shape 12"/>
          <p:cNvSpPr/>
          <p:nvPr/>
        </p:nvSpPr>
        <p:spPr>
          <a:xfrm>
            <a:off x="7195185" y="2011680"/>
            <a:ext cx="640080" cy="640080"/>
          </a:xfrm>
          <a:prstGeom prst="ellipse">
            <a:avLst/>
          </a:prstGeom>
          <a:solidFill>
            <a:srgbClr val="022B3A"/>
          </a:solidFill>
          <a:ln/>
        </p:spPr>
      </p:sp>
      <p:sp>
        <p:nvSpPr>
          <p:cNvPr id="15" name="Text 13"/>
          <p:cNvSpPr/>
          <p:nvPr/>
        </p:nvSpPr>
        <p:spPr>
          <a:xfrm>
            <a:off x="7195185" y="2011680"/>
            <a:ext cx="640080" cy="640080"/>
          </a:xfrm>
          <a:prstGeom prst="rect">
            <a:avLst/>
          </a:prstGeom>
          <a:noFill/>
          <a:ln/>
        </p:spPr>
        <p:txBody>
          <a:bodyPr wrap="square" rtlCol="0" anchor="ctr"/>
          <a:lstStyle/>
          <a:p>
            <a:pPr algn="ctr" indent="0" marL="0">
              <a:buNone/>
            </a:pPr>
            <a:r>
              <a:rPr lang="en-US" sz="2000" b="1" dirty="0">
                <a:solidFill>
                  <a:srgbClr val="02C39A"/>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6368796" y="2834640"/>
            <a:ext cx="2292858" cy="548640"/>
          </a:xfrm>
          <a:prstGeom prst="rect">
            <a:avLst/>
          </a:prstGeom>
          <a:noFill/>
          <a:ln/>
        </p:spPr>
        <p:txBody>
          <a:bodyPr wrap="square" rtlCol="0" anchor="ctr"/>
          <a:lstStyle/>
          <a:p>
            <a:pPr algn="ctr" indent="0" marL="0">
              <a:buNone/>
            </a:pPr>
            <a:r>
              <a:rPr lang="en-US" sz="1350" b="1" dirty="0">
                <a:solidFill>
                  <a:srgbClr val="022B3A"/>
                </a:solidFill>
                <a:latin typeface="Arial" pitchFamily="34" charset="0"/>
                <a:ea typeface="Arial" pitchFamily="34" charset="-122"/>
                <a:cs typeface="Arial" pitchFamily="34" charset="-120"/>
              </a:rPr>
              <a:t>Health-Conscious Users</a:t>
            </a:r>
            <a:endParaRPr lang="en-US" sz="1350" dirty="0"/>
          </a:p>
        </p:txBody>
      </p:sp>
      <p:sp>
        <p:nvSpPr>
          <p:cNvPr id="17" name="Text 15"/>
          <p:cNvSpPr/>
          <p:nvPr/>
        </p:nvSpPr>
        <p:spPr>
          <a:xfrm>
            <a:off x="6368796" y="3429000"/>
            <a:ext cx="2292858" cy="2286000"/>
          </a:xfrm>
          <a:prstGeom prst="rect">
            <a:avLst/>
          </a:prstGeom>
          <a:noFill/>
          <a:ln/>
        </p:spPr>
        <p:txBody>
          <a:bodyPr wrap="square" rtlCol="0" anchor="t"/>
          <a:lstStyle/>
          <a:p>
            <a:pPr algn="ctr" indent="0" marL="0">
              <a:lnSpc>
                <a:spcPct val="120000"/>
              </a:lnSpc>
              <a:buNone/>
            </a:pPr>
            <a:r>
              <a:rPr lang="en-US" sz="1100" dirty="0">
                <a:solidFill>
                  <a:srgbClr val="282A2E"/>
                </a:solidFill>
                <a:latin typeface="Arial" pitchFamily="34" charset="0"/>
                <a:ea typeface="Arial" pitchFamily="34" charset="-122"/>
                <a:cs typeface="Arial" pitchFamily="34" charset="-120"/>
              </a:rPr>
              <a:t>Data-driven visibility into daily nutrient intake and gaps</a:t>
            </a:r>
            <a:endParaRPr lang="en-US" sz="1100" dirty="0"/>
          </a:p>
        </p:txBody>
      </p:sp>
      <p:sp>
        <p:nvSpPr>
          <p:cNvPr id="18" name="Shape 16"/>
          <p:cNvSpPr/>
          <p:nvPr/>
        </p:nvSpPr>
        <p:spPr>
          <a:xfrm>
            <a:off x="9073134" y="1691640"/>
            <a:ext cx="2567178" cy="4206240"/>
          </a:xfrm>
          <a:prstGeom prst="roundRect">
            <a:avLst>
              <a:gd name="adj" fmla="val 3562"/>
            </a:avLst>
          </a:prstGeom>
          <a:solidFill>
            <a:srgbClr val="F7F7F5"/>
          </a:solidFill>
          <a:ln w="15875">
            <a:solidFill>
              <a:srgbClr val="028090"/>
            </a:solidFill>
            <a:prstDash val="solid"/>
          </a:ln>
        </p:spPr>
      </p:sp>
      <p:sp>
        <p:nvSpPr>
          <p:cNvPr id="19" name="Shape 17"/>
          <p:cNvSpPr/>
          <p:nvPr/>
        </p:nvSpPr>
        <p:spPr>
          <a:xfrm>
            <a:off x="10036683" y="2011680"/>
            <a:ext cx="640080" cy="640080"/>
          </a:xfrm>
          <a:prstGeom prst="ellipse">
            <a:avLst/>
          </a:prstGeom>
          <a:solidFill>
            <a:srgbClr val="022B3A"/>
          </a:solidFill>
          <a:ln/>
        </p:spPr>
      </p:sp>
      <p:sp>
        <p:nvSpPr>
          <p:cNvPr id="20" name="Text 18"/>
          <p:cNvSpPr/>
          <p:nvPr/>
        </p:nvSpPr>
        <p:spPr>
          <a:xfrm>
            <a:off x="10036683" y="2011680"/>
            <a:ext cx="640080" cy="640080"/>
          </a:xfrm>
          <a:prstGeom prst="rect">
            <a:avLst/>
          </a:prstGeom>
          <a:noFill/>
          <a:ln/>
        </p:spPr>
        <p:txBody>
          <a:bodyPr wrap="square" rtlCol="0" anchor="ctr"/>
          <a:lstStyle/>
          <a:p>
            <a:pPr algn="ctr" indent="0" marL="0">
              <a:buNone/>
            </a:pPr>
            <a:r>
              <a:rPr lang="en-US" sz="2000" b="1" dirty="0">
                <a:solidFill>
                  <a:srgbClr val="02C39A"/>
                </a:solidFill>
                <a:latin typeface="Arial" pitchFamily="34" charset="0"/>
                <a:ea typeface="Arial" pitchFamily="34" charset="-122"/>
                <a:cs typeface="Arial" pitchFamily="34" charset="-120"/>
              </a:rPr>
              <a:t>4</a:t>
            </a:r>
            <a:endParaRPr lang="en-US" sz="2000" dirty="0"/>
          </a:p>
        </p:txBody>
      </p:sp>
      <p:sp>
        <p:nvSpPr>
          <p:cNvPr id="21" name="Text 19"/>
          <p:cNvSpPr/>
          <p:nvPr/>
        </p:nvSpPr>
        <p:spPr>
          <a:xfrm>
            <a:off x="9210294" y="2834640"/>
            <a:ext cx="2292858" cy="548640"/>
          </a:xfrm>
          <a:prstGeom prst="rect">
            <a:avLst/>
          </a:prstGeom>
          <a:noFill/>
          <a:ln/>
        </p:spPr>
        <p:txBody>
          <a:bodyPr wrap="square" rtlCol="0" anchor="ctr"/>
          <a:lstStyle/>
          <a:p>
            <a:pPr algn="ctr" indent="0" marL="0">
              <a:buNone/>
            </a:pPr>
            <a:r>
              <a:rPr lang="en-US" sz="1350" b="1" dirty="0">
                <a:solidFill>
                  <a:srgbClr val="022B3A"/>
                </a:solidFill>
                <a:latin typeface="Arial" pitchFamily="34" charset="0"/>
                <a:ea typeface="Arial" pitchFamily="34" charset="-122"/>
                <a:cs typeface="Arial" pitchFamily="34" charset="-120"/>
              </a:rPr>
              <a:t>Nutrition Professionals</a:t>
            </a:r>
            <a:endParaRPr lang="en-US" sz="1350" dirty="0"/>
          </a:p>
        </p:txBody>
      </p:sp>
      <p:sp>
        <p:nvSpPr>
          <p:cNvPr id="22" name="Text 20"/>
          <p:cNvSpPr/>
          <p:nvPr/>
        </p:nvSpPr>
        <p:spPr>
          <a:xfrm>
            <a:off x="9210294" y="3429000"/>
            <a:ext cx="2292858" cy="2286000"/>
          </a:xfrm>
          <a:prstGeom prst="rect">
            <a:avLst/>
          </a:prstGeom>
          <a:noFill/>
          <a:ln/>
        </p:spPr>
        <p:txBody>
          <a:bodyPr wrap="square" rtlCol="0" anchor="t"/>
          <a:lstStyle/>
          <a:p>
            <a:pPr algn="ctr" indent="0" marL="0">
              <a:lnSpc>
                <a:spcPct val="120000"/>
              </a:lnSpc>
              <a:buNone/>
            </a:pPr>
            <a:r>
              <a:rPr lang="en-US" sz="1100" dirty="0">
                <a:solidFill>
                  <a:srgbClr val="282A2E"/>
                </a:solidFill>
                <a:latin typeface="Arial" pitchFamily="34" charset="0"/>
                <a:ea typeface="Arial" pitchFamily="34" charset="-122"/>
                <a:cs typeface="Arial" pitchFamily="34" charset="-120"/>
              </a:rPr>
              <a:t>A scalable first line of support that frees up time for complex cases</a:t>
            </a:r>
            <a:endParaRPr lang="en-US" sz="1100" dirty="0"/>
          </a:p>
        </p:txBody>
      </p:sp>
      <p:sp>
        <p:nvSpPr>
          <p:cNvPr id="23" name="Text 21"/>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GitHub Repository</a:t>
            </a:r>
            <a:endParaRPr lang="en-US" sz="2800" dirty="0"/>
          </a:p>
        </p:txBody>
      </p:sp>
      <p:sp>
        <p:nvSpPr>
          <p:cNvPr id="3" name="Shape 1"/>
          <p:cNvSpPr/>
          <p:nvPr/>
        </p:nvSpPr>
        <p:spPr>
          <a:xfrm>
            <a:off x="548640" y="1600200"/>
            <a:ext cx="11091672" cy="4572000"/>
          </a:xfrm>
          <a:prstGeom prst="roundRect">
            <a:avLst>
              <a:gd name="adj" fmla="val 2000"/>
            </a:avLst>
          </a:prstGeom>
          <a:solidFill>
            <a:srgbClr val="F7F7F5"/>
          </a:solidFill>
          <a:ln w="12700">
            <a:solidFill>
              <a:srgbClr val="E6E9E8"/>
            </a:solidFill>
            <a:prstDash val="solid"/>
          </a:ln>
        </p:spPr>
      </p:sp>
      <p:sp>
        <p:nvSpPr>
          <p:cNvPr id="4" name="Text 2"/>
          <p:cNvSpPr/>
          <p:nvPr/>
        </p:nvSpPr>
        <p:spPr>
          <a:xfrm>
            <a:off x="822960" y="1828800"/>
            <a:ext cx="5486400" cy="365760"/>
          </a:xfrm>
          <a:prstGeom prst="rect">
            <a:avLst/>
          </a:prstGeom>
          <a:noFill/>
          <a:ln/>
        </p:spPr>
        <p:txBody>
          <a:bodyPr wrap="square" rtlCol="0" anchor="ctr"/>
          <a:lstStyle/>
          <a:p>
            <a:pPr indent="0" marL="0">
              <a:buNone/>
            </a:pPr>
            <a:r>
              <a:rPr lang="en-US" sz="1600" b="1" dirty="0">
                <a:solidFill>
                  <a:srgbClr val="022B3A"/>
                </a:solidFill>
                <a:latin typeface="Arial" pitchFamily="34" charset="0"/>
                <a:ea typeface="Arial" pitchFamily="34" charset="-122"/>
                <a:cs typeface="Arial" pitchFamily="34" charset="-120"/>
              </a:rPr>
              <a:t>Repository Status</a:t>
            </a:r>
            <a:endParaRPr lang="en-US" sz="1600" dirty="0"/>
          </a:p>
        </p:txBody>
      </p:sp>
      <p:sp>
        <p:nvSpPr>
          <p:cNvPr id="5" name="Text 3"/>
          <p:cNvSpPr/>
          <p:nvPr/>
        </p:nvSpPr>
        <p:spPr>
          <a:xfrm>
            <a:off x="822960" y="2240280"/>
            <a:ext cx="5486400" cy="548640"/>
          </a:xfrm>
          <a:prstGeom prst="rect">
            <a:avLst/>
          </a:prstGeom>
          <a:noFill/>
          <a:ln/>
        </p:spPr>
        <p:txBody>
          <a:bodyPr wrap="square" rtlCol="0" anchor="ctr"/>
          <a:lstStyle/>
          <a:p>
            <a:pPr indent="0" marL="0">
              <a:buNone/>
            </a:pPr>
            <a:r>
              <a:rPr lang="en-US" sz="1400" i="1" dirty="0">
                <a:solidFill>
                  <a:srgbClr val="BE8C28"/>
                </a:solidFill>
                <a:latin typeface="Arial" pitchFamily="34" charset="0"/>
                <a:ea typeface="Arial" pitchFamily="34" charset="-122"/>
                <a:cs typeface="Arial" pitchFamily="34" charset="-120"/>
              </a:rPr>
              <a:t>GitHub repository to be added after upload.</a:t>
            </a:r>
            <a:endParaRPr lang="en-US" sz="1400" dirty="0"/>
          </a:p>
        </p:txBody>
      </p:sp>
      <p:sp>
        <p:nvSpPr>
          <p:cNvPr id="6" name="Text 4"/>
          <p:cNvSpPr/>
          <p:nvPr/>
        </p:nvSpPr>
        <p:spPr>
          <a:xfrm>
            <a:off x="822960" y="2880360"/>
            <a:ext cx="5760720" cy="3017520"/>
          </a:xfrm>
          <a:prstGeom prst="rect">
            <a:avLst/>
          </a:prstGeom>
          <a:noFill/>
          <a:ln/>
        </p:spPr>
        <p:txBody>
          <a:bodyPr wrap="square" rtlCol="0" anchor="t"/>
          <a:lstStyle/>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Create a public repository with README enabled</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Upload all IBM Cloud / agent-related project files</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Upload the problem-statement PDF</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Upload this project presentation (.pptx)</a:t>
            </a:r>
            <a:endParaRPr lang="en-US" sz="1500" dirty="0"/>
          </a:p>
          <a:p>
            <a:pPr marL="342900" indent="-342900">
              <a:spcAft>
                <a:spcPts val="1000"/>
              </a:spcAft>
              <a:buSzPct val="100000"/>
              <a:buChar char="▪"/>
            </a:pPr>
            <a:r>
              <a:rPr lang="en-US" sz="1500" dirty="0">
                <a:solidFill>
                  <a:srgbClr val="282A2E"/>
                </a:solidFill>
                <a:latin typeface="Arial" pitchFamily="34" charset="0"/>
                <a:ea typeface="Arial" pitchFamily="34" charset="-122"/>
                <a:cs typeface="Arial" pitchFamily="34" charset="-120"/>
              </a:rPr>
              <a:t>Paste the tested, working repository URL here once created</a:t>
            </a:r>
            <a:endParaRPr lang="en-US" sz="1500" dirty="0"/>
          </a:p>
        </p:txBody>
      </p:sp>
      <p:sp>
        <p:nvSpPr>
          <p:cNvPr id="7" name="Text 5"/>
          <p:cNvSpPr/>
          <p:nvPr/>
        </p:nvSpPr>
        <p:spPr>
          <a:xfrm>
            <a:off x="6858000" y="1828800"/>
            <a:ext cx="4572000" cy="365760"/>
          </a:xfrm>
          <a:prstGeom prst="rect">
            <a:avLst/>
          </a:prstGeom>
          <a:noFill/>
          <a:ln/>
        </p:spPr>
        <p:txBody>
          <a:bodyPr wrap="square" rtlCol="0" anchor="ctr"/>
          <a:lstStyle/>
          <a:p>
            <a:pPr indent="0" marL="0">
              <a:buNone/>
            </a:pPr>
            <a:r>
              <a:rPr lang="en-US" sz="1600" b="1" dirty="0">
                <a:solidFill>
                  <a:srgbClr val="022B3A"/>
                </a:solidFill>
                <a:latin typeface="Arial" pitchFamily="34" charset="0"/>
                <a:ea typeface="Arial" pitchFamily="34" charset="-122"/>
                <a:cs typeface="Arial" pitchFamily="34" charset="-120"/>
              </a:rPr>
              <a:t>Suggested repository name</a:t>
            </a:r>
            <a:endParaRPr lang="en-US" sz="1600" dirty="0"/>
          </a:p>
        </p:txBody>
      </p:sp>
      <p:sp>
        <p:nvSpPr>
          <p:cNvPr id="8" name="Shape 6"/>
          <p:cNvSpPr/>
          <p:nvPr/>
        </p:nvSpPr>
        <p:spPr>
          <a:xfrm>
            <a:off x="6858000" y="2240280"/>
            <a:ext cx="4572000" cy="502920"/>
          </a:xfrm>
          <a:prstGeom prst="roundRect">
            <a:avLst>
              <a:gd name="adj" fmla="val 10909"/>
            </a:avLst>
          </a:prstGeom>
          <a:solidFill>
            <a:srgbClr val="022B3A"/>
          </a:solidFill>
          <a:ln/>
        </p:spPr>
      </p:sp>
      <p:sp>
        <p:nvSpPr>
          <p:cNvPr id="9" name="Text 7"/>
          <p:cNvSpPr/>
          <p:nvPr/>
        </p:nvSpPr>
        <p:spPr>
          <a:xfrm>
            <a:off x="6858000" y="2240280"/>
            <a:ext cx="4572000" cy="502920"/>
          </a:xfrm>
          <a:prstGeom prst="rect">
            <a:avLst/>
          </a:prstGeom>
          <a:noFill/>
          <a:ln/>
        </p:spPr>
        <p:txBody>
          <a:bodyPr wrap="square" rtlCol="0" anchor="ctr"/>
          <a:lstStyle/>
          <a:p>
            <a:pPr algn="ctr" indent="0" marL="0">
              <a:buNone/>
            </a:pPr>
            <a:r>
              <a:rPr lang="en-US" sz="1400" dirty="0">
                <a:solidFill>
                  <a:srgbClr val="02C39A"/>
                </a:solidFill>
                <a:latin typeface="Courier New" pitchFamily="34" charset="0"/>
                <a:ea typeface="Courier New" pitchFamily="34" charset="-122"/>
                <a:cs typeface="Courier New" pitchFamily="34" charset="-120"/>
              </a:rPr>
              <a:t>ai-powered-nutrition-agent</a:t>
            </a:r>
            <a:endParaRPr lang="en-US" sz="1400" dirty="0"/>
          </a:p>
        </p:txBody>
      </p:sp>
      <p:sp>
        <p:nvSpPr>
          <p:cNvPr id="10" name="Text 8"/>
          <p:cNvSpPr/>
          <p:nvPr/>
        </p:nvSpPr>
        <p:spPr>
          <a:xfrm>
            <a:off x="6858000" y="3017520"/>
            <a:ext cx="4572000" cy="1097280"/>
          </a:xfrm>
          <a:prstGeom prst="rect">
            <a:avLst/>
          </a:prstGeom>
          <a:noFill/>
          <a:ln/>
        </p:spPr>
        <p:txBody>
          <a:bodyPr wrap="square" rtlCol="0" anchor="t"/>
          <a:lstStyle/>
          <a:p>
            <a:pPr indent="0" marL="0">
              <a:buNone/>
            </a:pPr>
            <a:r>
              <a:rPr lang="en-US" sz="1100" i="1" dirty="0">
                <a:solidFill>
                  <a:srgbClr val="6E7880"/>
                </a:solidFill>
                <a:latin typeface="Arial" pitchFamily="34" charset="0"/>
                <a:ea typeface="Arial" pitchFamily="34" charset="-122"/>
                <a:cs typeface="Arial" pitchFamily="34" charset="-120"/>
              </a:rPr>
              <a:t>No fabricated or placeholder GitHub URL is included in this submission — in line with academic-honesty requirements.</a:t>
            </a:r>
            <a:endParaRPr lang="en-US" sz="1100" dirty="0"/>
          </a:p>
        </p:txBody>
      </p:sp>
      <p:sp>
        <p:nvSpPr>
          <p:cNvPr id="11" name="Text 9"/>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Future Scope</a:t>
            </a:r>
            <a:endParaRPr lang="en-US" sz="2800" dirty="0"/>
          </a:p>
        </p:txBody>
      </p:sp>
      <p:sp>
        <p:nvSpPr>
          <p:cNvPr id="3" name="Shape 1"/>
          <p:cNvSpPr/>
          <p:nvPr/>
        </p:nvSpPr>
        <p:spPr>
          <a:xfrm>
            <a:off x="548640" y="1554480"/>
            <a:ext cx="5408676" cy="1508760"/>
          </a:xfrm>
          <a:prstGeom prst="roundRect">
            <a:avLst>
              <a:gd name="adj" fmla="val 4848"/>
            </a:avLst>
          </a:prstGeom>
          <a:solidFill>
            <a:srgbClr val="FFFFFF"/>
          </a:solidFill>
          <a:ln w="15875">
            <a:solidFill>
              <a:srgbClr val="028090"/>
            </a:solidFill>
            <a:prstDash val="solid"/>
          </a:ln>
        </p:spPr>
      </p:sp>
      <p:sp>
        <p:nvSpPr>
          <p:cNvPr id="4" name="Text 2"/>
          <p:cNvSpPr/>
          <p:nvPr/>
        </p:nvSpPr>
        <p:spPr>
          <a:xfrm>
            <a:off x="731520" y="166420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Wearable &amp; Smartwatch Integration</a:t>
            </a:r>
            <a:endParaRPr lang="en-US" sz="1300" dirty="0"/>
          </a:p>
        </p:txBody>
      </p:sp>
      <p:sp>
        <p:nvSpPr>
          <p:cNvPr id="5" name="Text 3"/>
          <p:cNvSpPr/>
          <p:nvPr/>
        </p:nvSpPr>
        <p:spPr>
          <a:xfrm>
            <a:off x="731520" y="212140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Real-time steps, heart rate &amp; sleep data for dynamic recommendations</a:t>
            </a:r>
            <a:endParaRPr lang="en-US" sz="1100" dirty="0"/>
          </a:p>
        </p:txBody>
      </p:sp>
      <p:sp>
        <p:nvSpPr>
          <p:cNvPr id="6" name="Shape 4"/>
          <p:cNvSpPr/>
          <p:nvPr/>
        </p:nvSpPr>
        <p:spPr>
          <a:xfrm>
            <a:off x="6231636" y="1554480"/>
            <a:ext cx="5408676" cy="1508760"/>
          </a:xfrm>
          <a:prstGeom prst="roundRect">
            <a:avLst>
              <a:gd name="adj" fmla="val 4848"/>
            </a:avLst>
          </a:prstGeom>
          <a:solidFill>
            <a:srgbClr val="FFFFFF"/>
          </a:solidFill>
          <a:ln w="15875">
            <a:solidFill>
              <a:srgbClr val="028090"/>
            </a:solidFill>
            <a:prstDash val="solid"/>
          </a:ln>
        </p:spPr>
      </p:sp>
      <p:sp>
        <p:nvSpPr>
          <p:cNvPr id="7" name="Text 5"/>
          <p:cNvSpPr/>
          <p:nvPr/>
        </p:nvSpPr>
        <p:spPr>
          <a:xfrm>
            <a:off x="6414516" y="166420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Voice Assistant &amp; Multilingual Support</a:t>
            </a:r>
            <a:endParaRPr lang="en-US" sz="1300" dirty="0"/>
          </a:p>
        </p:txBody>
      </p:sp>
      <p:sp>
        <p:nvSpPr>
          <p:cNvPr id="8" name="Text 6"/>
          <p:cNvSpPr/>
          <p:nvPr/>
        </p:nvSpPr>
        <p:spPr>
          <a:xfrm>
            <a:off x="6414516" y="212140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Natural interaction in the user's preferred language</a:t>
            </a:r>
            <a:endParaRPr lang="en-US" sz="1100" dirty="0"/>
          </a:p>
        </p:txBody>
      </p:sp>
      <p:sp>
        <p:nvSpPr>
          <p:cNvPr id="9" name="Shape 7"/>
          <p:cNvSpPr/>
          <p:nvPr/>
        </p:nvSpPr>
        <p:spPr>
          <a:xfrm>
            <a:off x="548640" y="3291840"/>
            <a:ext cx="5408676" cy="1508760"/>
          </a:xfrm>
          <a:prstGeom prst="roundRect">
            <a:avLst>
              <a:gd name="adj" fmla="val 4848"/>
            </a:avLst>
          </a:prstGeom>
          <a:solidFill>
            <a:srgbClr val="FFFFFF"/>
          </a:solidFill>
          <a:ln w="15875">
            <a:solidFill>
              <a:srgbClr val="028090"/>
            </a:solidFill>
            <a:prstDash val="solid"/>
          </a:ln>
        </p:spPr>
      </p:sp>
      <p:sp>
        <p:nvSpPr>
          <p:cNvPr id="10" name="Text 8"/>
          <p:cNvSpPr/>
          <p:nvPr/>
        </p:nvSpPr>
        <p:spPr>
          <a:xfrm>
            <a:off x="731520" y="340156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Image-Based Food Recognition</a:t>
            </a:r>
            <a:endParaRPr lang="en-US" sz="1300" dirty="0"/>
          </a:p>
        </p:txBody>
      </p:sp>
      <p:sp>
        <p:nvSpPr>
          <p:cNvPr id="11" name="Text 9"/>
          <p:cNvSpPr/>
          <p:nvPr/>
        </p:nvSpPr>
        <p:spPr>
          <a:xfrm>
            <a:off x="731520" y="385876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Log meals instantly from a photo of the plate</a:t>
            </a:r>
            <a:endParaRPr lang="en-US" sz="1100" dirty="0"/>
          </a:p>
        </p:txBody>
      </p:sp>
      <p:sp>
        <p:nvSpPr>
          <p:cNvPr id="12" name="Shape 10"/>
          <p:cNvSpPr/>
          <p:nvPr/>
        </p:nvSpPr>
        <p:spPr>
          <a:xfrm>
            <a:off x="6231636" y="3291840"/>
            <a:ext cx="5408676" cy="1508760"/>
          </a:xfrm>
          <a:prstGeom prst="roundRect">
            <a:avLst>
              <a:gd name="adj" fmla="val 4848"/>
            </a:avLst>
          </a:prstGeom>
          <a:solidFill>
            <a:srgbClr val="FFFFFF"/>
          </a:solidFill>
          <a:ln w="15875">
            <a:solidFill>
              <a:srgbClr val="028090"/>
            </a:solidFill>
            <a:prstDash val="solid"/>
          </a:ln>
        </p:spPr>
      </p:sp>
      <p:sp>
        <p:nvSpPr>
          <p:cNvPr id="13" name="Text 11"/>
          <p:cNvSpPr/>
          <p:nvPr/>
        </p:nvSpPr>
        <p:spPr>
          <a:xfrm>
            <a:off x="6414516" y="340156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Advanced Predictive Analytics</a:t>
            </a:r>
            <a:endParaRPr lang="en-US" sz="1300" dirty="0"/>
          </a:p>
        </p:txBody>
      </p:sp>
      <p:sp>
        <p:nvSpPr>
          <p:cNvPr id="14" name="Text 12"/>
          <p:cNvSpPr/>
          <p:nvPr/>
        </p:nvSpPr>
        <p:spPr>
          <a:xfrm>
            <a:off x="6414516" y="385876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Anticipate nutrient deficiencies before they occur</a:t>
            </a:r>
            <a:endParaRPr lang="en-US" sz="1100" dirty="0"/>
          </a:p>
        </p:txBody>
      </p:sp>
      <p:sp>
        <p:nvSpPr>
          <p:cNvPr id="15" name="Shape 13"/>
          <p:cNvSpPr/>
          <p:nvPr/>
        </p:nvSpPr>
        <p:spPr>
          <a:xfrm>
            <a:off x="548640" y="5029200"/>
            <a:ext cx="5408676" cy="1508760"/>
          </a:xfrm>
          <a:prstGeom prst="roundRect">
            <a:avLst>
              <a:gd name="adj" fmla="val 4848"/>
            </a:avLst>
          </a:prstGeom>
          <a:solidFill>
            <a:srgbClr val="FFFFFF"/>
          </a:solidFill>
          <a:ln w="15875">
            <a:solidFill>
              <a:srgbClr val="028090"/>
            </a:solidFill>
            <a:prstDash val="solid"/>
          </a:ln>
        </p:spPr>
      </p:sp>
      <p:sp>
        <p:nvSpPr>
          <p:cNvPr id="16" name="Text 14"/>
          <p:cNvSpPr/>
          <p:nvPr/>
        </p:nvSpPr>
        <p:spPr>
          <a:xfrm>
            <a:off x="731520" y="513892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Health-Device Integration</a:t>
            </a:r>
            <a:endParaRPr lang="en-US" sz="1300" dirty="0"/>
          </a:p>
        </p:txBody>
      </p:sp>
      <p:sp>
        <p:nvSpPr>
          <p:cNvPr id="17" name="Text 15"/>
          <p:cNvSpPr/>
          <p:nvPr/>
        </p:nvSpPr>
        <p:spPr>
          <a:xfrm>
            <a:off x="731520" y="559612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Sync with glucometers, BP monitors for chronic-care support</a:t>
            </a:r>
            <a:endParaRPr lang="en-US" sz="1100" dirty="0"/>
          </a:p>
        </p:txBody>
      </p:sp>
      <p:sp>
        <p:nvSpPr>
          <p:cNvPr id="18" name="Shape 16"/>
          <p:cNvSpPr/>
          <p:nvPr/>
        </p:nvSpPr>
        <p:spPr>
          <a:xfrm>
            <a:off x="6231636" y="5029200"/>
            <a:ext cx="5408676" cy="1508760"/>
          </a:xfrm>
          <a:prstGeom prst="roundRect">
            <a:avLst>
              <a:gd name="adj" fmla="val 4848"/>
            </a:avLst>
          </a:prstGeom>
          <a:solidFill>
            <a:srgbClr val="FFFFFF"/>
          </a:solidFill>
          <a:ln w="15875">
            <a:solidFill>
              <a:srgbClr val="028090"/>
            </a:solidFill>
            <a:prstDash val="solid"/>
          </a:ln>
        </p:spPr>
      </p:sp>
      <p:sp>
        <p:nvSpPr>
          <p:cNvPr id="19" name="Text 17"/>
          <p:cNvSpPr/>
          <p:nvPr/>
        </p:nvSpPr>
        <p:spPr>
          <a:xfrm>
            <a:off x="6414516" y="5138928"/>
            <a:ext cx="5042916" cy="457200"/>
          </a:xfrm>
          <a:prstGeom prst="rect">
            <a:avLst/>
          </a:prstGeom>
          <a:noFill/>
          <a:ln/>
        </p:spPr>
        <p:txBody>
          <a:bodyPr wrap="square" rtlCol="0" anchor="ctr"/>
          <a:lstStyle/>
          <a:p>
            <a:pPr indent="0" marL="0">
              <a:buNone/>
            </a:pPr>
            <a:r>
              <a:rPr lang="en-US" sz="1300" b="1" dirty="0">
                <a:solidFill>
                  <a:srgbClr val="022B3A"/>
                </a:solidFill>
                <a:latin typeface="Arial" pitchFamily="34" charset="0"/>
                <a:ea typeface="Arial" pitchFamily="34" charset="-122"/>
                <a:cs typeface="Arial" pitchFamily="34" charset="-120"/>
              </a:rPr>
              <a:t>Deeper Personalization</a:t>
            </a:r>
            <a:endParaRPr lang="en-US" sz="1300" dirty="0"/>
          </a:p>
        </p:txBody>
      </p:sp>
      <p:sp>
        <p:nvSpPr>
          <p:cNvPr id="20" name="Text 18"/>
          <p:cNvSpPr/>
          <p:nvPr/>
        </p:nvSpPr>
        <p:spPr>
          <a:xfrm>
            <a:off x="6414516" y="5596128"/>
            <a:ext cx="5042916" cy="868680"/>
          </a:xfrm>
          <a:prstGeom prst="rect">
            <a:avLst/>
          </a:prstGeom>
          <a:noFill/>
          <a:ln/>
        </p:spPr>
        <p:txBody>
          <a:bodyPr wrap="square" rtlCol="0" anchor="t"/>
          <a:lstStyle/>
          <a:p>
            <a:pPr indent="0" marL="0">
              <a:lnSpc>
                <a:spcPct val="115000"/>
              </a:lnSpc>
              <a:buNone/>
            </a:pPr>
            <a:r>
              <a:rPr lang="en-US" sz="1100" dirty="0">
                <a:solidFill>
                  <a:srgbClr val="282A2E"/>
                </a:solidFill>
                <a:latin typeface="Arial" pitchFamily="34" charset="0"/>
                <a:ea typeface="Arial" pitchFamily="34" charset="-122"/>
                <a:cs typeface="Arial" pitchFamily="34" charset="-120"/>
              </a:rPr>
              <a:t>Cultural cuisine libraries and regional food databases</a:t>
            </a:r>
            <a:endParaRPr lang="en-US" sz="1100" dirty="0"/>
          </a:p>
        </p:txBody>
      </p:sp>
      <p:sp>
        <p:nvSpPr>
          <p:cNvPr id="21" name="Text 19"/>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Certificates Earned</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IBM SkillsBuild — Journey to Cloud: Envisioning Your Solution</a:t>
            </a:r>
            <a:endParaRPr lang="en-US" sz="1500" dirty="0"/>
          </a:p>
        </p:txBody>
      </p:sp>
      <p:pic>
        <p:nvPicPr>
          <p:cNvPr id="4" name="Image 0" descr="/home/claude/assets/cert_cloud.png">    </p:cNvPr>
          <p:cNvPicPr>
            <a:picLocks noChangeAspect="1"/>
          </p:cNvPicPr>
          <p:nvPr/>
        </p:nvPicPr>
        <p:blipFill>
          <a:blip r:embed="rId1"/>
          <a:stretch>
            <a:fillRect/>
          </a:stretch>
        </p:blipFill>
        <p:spPr>
          <a:xfrm>
            <a:off x="4788564" y="1463040"/>
            <a:ext cx="2611824" cy="507492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Certificates Earned</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IBM SkillsBuild — Getting Started with Cybersecurity</a:t>
            </a:r>
            <a:endParaRPr lang="en-US" sz="1500" dirty="0"/>
          </a:p>
        </p:txBody>
      </p:sp>
      <p:pic>
        <p:nvPicPr>
          <p:cNvPr id="4" name="Image 0" descr="/home/claude/assets/cert_cyber.png">    </p:cNvPr>
          <p:cNvPicPr>
            <a:picLocks noChangeAspect="1"/>
          </p:cNvPicPr>
          <p:nvPr/>
        </p:nvPicPr>
        <p:blipFill>
          <a:blip r:embed="rId1"/>
          <a:stretch>
            <a:fillRect/>
          </a:stretch>
        </p:blipFill>
        <p:spPr>
          <a:xfrm>
            <a:off x="4788564" y="1463040"/>
            <a:ext cx="2611824" cy="507492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2800" b="1" dirty="0">
                <a:solidFill>
                  <a:srgbClr val="022B3A"/>
                </a:solidFill>
                <a:latin typeface="Arial" pitchFamily="34" charset="0"/>
                <a:ea typeface="Arial" pitchFamily="34" charset="-122"/>
                <a:cs typeface="Arial" pitchFamily="34" charset="-120"/>
              </a:rPr>
              <a:t>Certificates Earned</a:t>
            </a:r>
            <a:endParaRPr lang="en-US" sz="2800" dirty="0"/>
          </a:p>
        </p:txBody>
      </p:sp>
      <p:sp>
        <p:nvSpPr>
          <p:cNvPr id="3" name="Text 1"/>
          <p:cNvSpPr/>
          <p:nvPr/>
        </p:nvSpPr>
        <p:spPr>
          <a:xfrm>
            <a:off x="548640" y="868680"/>
            <a:ext cx="11091672" cy="365760"/>
          </a:xfrm>
          <a:prstGeom prst="rect">
            <a:avLst/>
          </a:prstGeom>
          <a:noFill/>
          <a:ln/>
        </p:spPr>
        <p:txBody>
          <a:bodyPr wrap="square" rtlCol="0" anchor="ctr"/>
          <a:lstStyle/>
          <a:p>
            <a:pPr indent="0" marL="0">
              <a:buNone/>
            </a:pPr>
            <a:r>
              <a:rPr lang="en-US" sz="1500" i="1" dirty="0">
                <a:solidFill>
                  <a:srgbClr val="6E7880"/>
                </a:solidFill>
                <a:latin typeface="Arial" pitchFamily="34" charset="0"/>
                <a:ea typeface="Arial" pitchFamily="34" charset="-122"/>
                <a:cs typeface="Arial" pitchFamily="34" charset="-120"/>
              </a:rPr>
              <a:t>IBM SkillsBuild — Getting Started with Artificial Intelligence</a:t>
            </a:r>
            <a:endParaRPr lang="en-US" sz="1500" dirty="0"/>
          </a:p>
        </p:txBody>
      </p:sp>
      <p:pic>
        <p:nvPicPr>
          <p:cNvPr id="4" name="Image 0" descr="/home/claude/assets/cert_ai.png">    </p:cNvPr>
          <p:cNvPicPr>
            <a:picLocks noChangeAspect="1"/>
          </p:cNvPicPr>
          <p:nvPr/>
        </p:nvPicPr>
        <p:blipFill>
          <a:blip r:embed="rId1"/>
          <a:stretch>
            <a:fillRect/>
          </a:stretch>
        </p:blipFill>
        <p:spPr>
          <a:xfrm>
            <a:off x="4788564" y="1463040"/>
            <a:ext cx="2611824" cy="507492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100" dirty="0">
                <a:solidFill>
                  <a:srgbClr val="6E7880"/>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22B3A"/>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28090">
              <a:alpha val="45000"/>
            </a:srgbClr>
          </a:solidFill>
          <a:ln/>
        </p:spPr>
      </p:sp>
      <p:sp>
        <p:nvSpPr>
          <p:cNvPr id="3" name="Text 1"/>
          <p:cNvSpPr/>
          <p:nvPr/>
        </p:nvSpPr>
        <p:spPr>
          <a:xfrm>
            <a:off x="822960" y="914400"/>
            <a:ext cx="10543032" cy="64008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Final Project Summary</a:t>
            </a:r>
            <a:endParaRPr lang="en-US" sz="3000" dirty="0"/>
          </a:p>
        </p:txBody>
      </p:sp>
      <p:sp>
        <p:nvSpPr>
          <p:cNvPr id="4" name="Text 2"/>
          <p:cNvSpPr/>
          <p:nvPr/>
        </p:nvSpPr>
        <p:spPr>
          <a:xfrm>
            <a:off x="1280160" y="1737360"/>
            <a:ext cx="9628632" cy="2743200"/>
          </a:xfrm>
          <a:prstGeom prst="rect">
            <a:avLst/>
          </a:prstGeom>
          <a:noFill/>
          <a:ln/>
        </p:spPr>
        <p:txBody>
          <a:bodyPr wrap="square" rtlCol="0" anchor="t"/>
          <a:lstStyle/>
          <a:p>
            <a:pPr algn="ctr" indent="0" marL="0">
              <a:lnSpc>
                <a:spcPct val="130000"/>
              </a:lnSpc>
              <a:buNone/>
            </a:pPr>
            <a:r>
              <a:rPr lang="en-US" sz="1450" dirty="0">
                <a:solidFill>
                  <a:srgbClr val="E7F6F3"/>
                </a:solidFill>
                <a:latin typeface="Arial" pitchFamily="34" charset="0"/>
                <a:ea typeface="Arial" pitchFamily="34" charset="-122"/>
                <a:cs typeface="Arial" pitchFamily="34" charset="-120"/>
              </a:rPr>
              <a:t>The AI-Powered Nutrition Agent demonstrates how Agentic AI, orchestrated through IBM Bob and powered by IBM Granite and IBM watsonx.ai, can turn scattered nutrition data into personalized, trustworthy, and preventive guidance. Four specialized agents — Knowledge, Diet Recommendation, Health Advisory and Food Log &amp; Feedback — work together under a RAG pipeline to deliver context-aware support, while a live dashboard keeps users engaged with their own progress. Built for accessibility and grounded in academic honesty, this project is ready for extension into wearables, voice, and multilingual support as outlined in the future scope.</a:t>
            </a:r>
            <a:endParaRPr lang="en-US" sz="1450" dirty="0"/>
          </a:p>
        </p:txBody>
      </p:sp>
      <p:sp>
        <p:nvSpPr>
          <p:cNvPr id="5" name="Text 3"/>
          <p:cNvSpPr/>
          <p:nvPr/>
        </p:nvSpPr>
        <p:spPr>
          <a:xfrm>
            <a:off x="822960" y="5943600"/>
            <a:ext cx="10543032" cy="457200"/>
          </a:xfrm>
          <a:prstGeom prst="rect">
            <a:avLst/>
          </a:prstGeom>
          <a:noFill/>
          <a:ln/>
        </p:spPr>
        <p:txBody>
          <a:bodyPr wrap="square" rtlCol="0" anchor="ctr"/>
          <a:lstStyle/>
          <a:p>
            <a:pPr algn="ctr" indent="0" marL="0">
              <a:buNone/>
            </a:pPr>
            <a:r>
              <a:rPr lang="en-US" sz="1300" b="1" dirty="0">
                <a:solidFill>
                  <a:srgbClr val="02C39A"/>
                </a:solidFill>
                <a:latin typeface="Arial" pitchFamily="34" charset="0"/>
                <a:ea typeface="Arial" pitchFamily="34" charset="-122"/>
                <a:cs typeface="Arial" pitchFamily="34" charset="-120"/>
              </a:rPr>
              <a:t>Submitted by MOHAMMAD KALEEM SHAIKH  —  AICTE 2026  —  IBM SkillsBuild for University Engagements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2026-09-06T15:56:10Z</dcterms:created>
  <dcterms:modified xsi:type="dcterms:W3CDTF">2026-09-06T15:56:10Z</dcterms:modified>
</cp:coreProperties>
</file>